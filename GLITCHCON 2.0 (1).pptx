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0_0.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56" r:id="rId5"/>
    <p:sldId id="257" r:id="rId6"/>
    <p:sldId id="258" r:id="rId7"/>
    <p:sldId id="259" r:id="rId8"/>
    <p:sldId id="260" r:id="rId9"/>
    <p:sldId id="262" r:id="rId10"/>
    <p:sldId id="261" r:id="rId11"/>
    <p:sldId id="266" r:id="rId12"/>
  </p:sldIdLst>
  <p:sldSz cx="18288000" cy="10287000"/>
  <p:notesSz cx="6858000" cy="9144000"/>
  <p:embeddedFontLst>
    <p:embeddedFont>
      <p:font typeface="Arimo" panose="020B0604020202020204" charset="0"/>
      <p:regular r:id="rId13"/>
    </p:embeddedFont>
    <p:embeddedFont>
      <p:font typeface="Montserrat Bold" panose="020B0604020202020204" charset="0"/>
      <p:regular r:id="rId14"/>
      <p:bold r:id="rId15"/>
    </p:embeddedFont>
    <p:embeddedFont>
      <p:font typeface="Playfair Display Bold" panose="020B0604020202020204" charset="0"/>
      <p:regular r:id="rId16"/>
      <p:bold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957102F-43BD-B36D-5265-7AA713B9A697}" name="RAHUL M" initials="R2" userId="S::rahul.m2025a@vitstudent.ac.in::654a89b8-b5fb-4148-bb2f-9bc41721b9a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5.fntdata"/><Relationship Id="rId2" Type="http://schemas.openxmlformats.org/officeDocument/2006/relationships/customXml" Target="../customXml/item2.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font" Target="fonts/font3.fntdata"/><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2.fntdata"/><Relationship Id="rId22" Type="http://schemas.microsoft.com/office/2018/10/relationships/authors" Target="authors.xml"/></Relationships>
</file>

<file path=ppt/comments/modernComment_100_0.xml><?xml version="1.0" encoding="utf-8"?>
<p188:cmLst xmlns:a="http://schemas.openxmlformats.org/drawingml/2006/main" xmlns:r="http://schemas.openxmlformats.org/officeDocument/2006/relationships" xmlns:p188="http://schemas.microsoft.com/office/powerpoint/2018/8/main">
  <p188:cm id="{DCD0CB55-B32F-4731-AFCA-ADCEC65738C3}" authorId="{9957102F-43BD-B36D-5265-7AA713B9A697}" created="2026-03-08T18:24:58.586">
    <pc:sldMkLst xmlns:pc="http://schemas.microsoft.com/office/powerpoint/2013/main/command">
      <pc:docMk/>
      <pc:sldMk cId="0" sldId="256"/>
    </pc:sldMkLst>
    <p188:txBody>
      <a:bodyPr/>
      <a:lstStyle/>
      <a:p>
        <a:r>
          <a:rPr lang="en-SG"/>
          <a:t>Go to File-&gt;Create a copy-&gt;Download</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microsoft.com/office/2018/10/relationships/comments" Target="../comments/modernComment_100_0.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748"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r>
              <a:rPr lang="en-IN" dirty="0"/>
              <a:t>Decentralized Autonomous Healthcare</a:t>
            </a:r>
            <a:endParaRPr lang="en-SG" dirty="0"/>
          </a:p>
        </p:txBody>
      </p:sp>
      <p:grpSp>
        <p:nvGrpSpPr>
          <p:cNvPr id="3" name="Group 3"/>
          <p:cNvGrpSpPr/>
          <p:nvPr/>
        </p:nvGrpSpPr>
        <p:grpSpPr>
          <a:xfrm>
            <a:off x="632753" y="636360"/>
            <a:ext cx="17103324" cy="1479628"/>
            <a:chOff x="0" y="0"/>
            <a:chExt cx="22804433" cy="1972837"/>
          </a:xfrm>
        </p:grpSpPr>
        <p:grpSp>
          <p:nvGrpSpPr>
            <p:cNvPr id="4" name="Group 4"/>
            <p:cNvGrpSpPr/>
            <p:nvPr/>
          </p:nvGrpSpPr>
          <p:grpSpPr>
            <a:xfrm>
              <a:off x="14170825" y="0"/>
              <a:ext cx="8633608" cy="1747411"/>
              <a:chOff x="0" y="0"/>
              <a:chExt cx="979436" cy="198234"/>
            </a:xfrm>
          </p:grpSpPr>
          <p:sp>
            <p:nvSpPr>
              <p:cNvPr id="5" name="Freeform 5"/>
              <p:cNvSpPr/>
              <p:nvPr/>
            </p:nvSpPr>
            <p:spPr>
              <a:xfrm>
                <a:off x="0" y="0"/>
                <a:ext cx="979436" cy="198234"/>
              </a:xfrm>
              <a:custGeom>
                <a:avLst/>
                <a:gdLst/>
                <a:ahLst/>
                <a:cxnLst/>
                <a:rect l="l" t="t" r="r" b="b"/>
                <a:pathLst>
                  <a:path w="979436" h="198234">
                    <a:moveTo>
                      <a:pt x="88476" y="0"/>
                    </a:moveTo>
                    <a:lnTo>
                      <a:pt x="890959" y="0"/>
                    </a:lnTo>
                    <a:cubicBezTo>
                      <a:pt x="939824" y="0"/>
                      <a:pt x="979436" y="39612"/>
                      <a:pt x="979436" y="88476"/>
                    </a:cubicBezTo>
                    <a:lnTo>
                      <a:pt x="979436" y="109758"/>
                    </a:lnTo>
                    <a:cubicBezTo>
                      <a:pt x="979436" y="133223"/>
                      <a:pt x="970114" y="155728"/>
                      <a:pt x="953522" y="172320"/>
                    </a:cubicBezTo>
                    <a:cubicBezTo>
                      <a:pt x="936929" y="188913"/>
                      <a:pt x="914425" y="198234"/>
                      <a:pt x="890959" y="198234"/>
                    </a:cubicBezTo>
                    <a:lnTo>
                      <a:pt x="88476" y="198234"/>
                    </a:lnTo>
                    <a:cubicBezTo>
                      <a:pt x="39612" y="198234"/>
                      <a:pt x="0" y="158622"/>
                      <a:pt x="0" y="109758"/>
                    </a:cubicBezTo>
                    <a:lnTo>
                      <a:pt x="0" y="88476"/>
                    </a:lnTo>
                    <a:cubicBezTo>
                      <a:pt x="0" y="39612"/>
                      <a:pt x="39612" y="0"/>
                      <a:pt x="88476" y="0"/>
                    </a:cubicBezTo>
                    <a:close/>
                  </a:path>
                </a:pathLst>
              </a:custGeom>
              <a:gradFill rotWithShape="1">
                <a:gsLst>
                  <a:gs pos="0">
                    <a:srgbClr val="8C52FF">
                      <a:alpha val="34000"/>
                    </a:srgbClr>
                  </a:gs>
                  <a:gs pos="100000">
                    <a:srgbClr val="00BF63">
                      <a:alpha val="34000"/>
                    </a:srgbClr>
                  </a:gs>
                </a:gsLst>
                <a:lin ang="0"/>
              </a:gradFill>
            </p:spPr>
            <p:txBody>
              <a:bodyPr/>
              <a:lstStyle/>
              <a:p>
                <a:endParaRPr lang="en-SG"/>
              </a:p>
            </p:txBody>
          </p:sp>
          <p:sp>
            <p:nvSpPr>
              <p:cNvPr id="6" name="TextBox 6"/>
              <p:cNvSpPr txBox="1"/>
              <p:nvPr/>
            </p:nvSpPr>
            <p:spPr>
              <a:xfrm>
                <a:off x="0" y="-47625"/>
                <a:ext cx="979436" cy="245859"/>
              </a:xfrm>
              <a:prstGeom prst="rect">
                <a:avLst/>
              </a:prstGeom>
            </p:spPr>
            <p:txBody>
              <a:bodyPr lIns="56452" tIns="56452" rIns="56452" bIns="56452" rtlCol="0" anchor="ctr"/>
              <a:lstStyle/>
              <a:p>
                <a:pPr algn="ctr">
                  <a:lnSpc>
                    <a:spcPts val="3440"/>
                  </a:lnSpc>
                </a:pPr>
                <a:endParaRPr/>
              </a:p>
            </p:txBody>
          </p:sp>
        </p:grpSp>
        <p:sp>
          <p:nvSpPr>
            <p:cNvPr id="7" name="TextBox 7"/>
            <p:cNvSpPr txBox="1"/>
            <p:nvPr/>
          </p:nvSpPr>
          <p:spPr>
            <a:xfrm>
              <a:off x="18542125" y="1128773"/>
              <a:ext cx="1391797" cy="405510"/>
            </a:xfrm>
            <a:prstGeom prst="rect">
              <a:avLst/>
            </a:prstGeom>
          </p:spPr>
          <p:txBody>
            <a:bodyPr lIns="0" tIns="0" rIns="0" bIns="0" rtlCol="0" anchor="t">
              <a:spAutoFit/>
            </a:bodyPr>
            <a:lstStyle/>
            <a:p>
              <a:pPr algn="ctr">
                <a:lnSpc>
                  <a:spcPts val="2537"/>
                </a:lnSpc>
              </a:pPr>
              <a:r>
                <a:rPr lang="en-US" sz="1812" b="1">
                  <a:solidFill>
                    <a:srgbClr val="FFFFFF"/>
                  </a:solidFill>
                  <a:latin typeface="Playfair Display Bold"/>
                  <a:ea typeface="Playfair Display Bold"/>
                  <a:cs typeface="Playfair Display Bold"/>
                  <a:sym typeface="Playfair Display Bold"/>
                </a:rPr>
                <a:t>ECDS</a:t>
              </a:r>
            </a:p>
          </p:txBody>
        </p:sp>
        <p:sp>
          <p:nvSpPr>
            <p:cNvPr id="8" name="Freeform 8"/>
            <p:cNvSpPr/>
            <p:nvPr/>
          </p:nvSpPr>
          <p:spPr>
            <a:xfrm>
              <a:off x="18487629" y="213128"/>
              <a:ext cx="1446293" cy="953744"/>
            </a:xfrm>
            <a:custGeom>
              <a:avLst/>
              <a:gdLst/>
              <a:ahLst/>
              <a:cxnLst/>
              <a:rect l="l" t="t" r="r" b="b"/>
              <a:pathLst>
                <a:path w="1446293" h="953744">
                  <a:moveTo>
                    <a:pt x="0" y="0"/>
                  </a:moveTo>
                  <a:lnTo>
                    <a:pt x="1446293" y="0"/>
                  </a:lnTo>
                  <a:lnTo>
                    <a:pt x="1446293" y="953745"/>
                  </a:lnTo>
                  <a:lnTo>
                    <a:pt x="0" y="953745"/>
                  </a:lnTo>
                  <a:lnTo>
                    <a:pt x="0" y="0"/>
                  </a:lnTo>
                  <a:close/>
                </a:path>
              </a:pathLst>
            </a:custGeom>
            <a:blipFill>
              <a:blip r:embed="rId4"/>
              <a:stretch>
                <a:fillRect l="-12251" t="-36010" r="-12482" b="-53141"/>
              </a:stretch>
            </a:blipFill>
          </p:spPr>
          <p:txBody>
            <a:bodyPr/>
            <a:lstStyle/>
            <a:p>
              <a:endParaRPr lang="en-SG"/>
            </a:p>
          </p:txBody>
        </p:sp>
        <p:grpSp>
          <p:nvGrpSpPr>
            <p:cNvPr id="9" name="Group 9"/>
            <p:cNvGrpSpPr/>
            <p:nvPr/>
          </p:nvGrpSpPr>
          <p:grpSpPr>
            <a:xfrm>
              <a:off x="20167830" y="331442"/>
              <a:ext cx="1084526" cy="1084526"/>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a:stretch>
              </a:blipFill>
            </p:spPr>
            <p:txBody>
              <a:bodyPr/>
              <a:lstStyle/>
              <a:p>
                <a:endParaRPr lang="en-SG"/>
              </a:p>
            </p:txBody>
          </p:sp>
        </p:grpSp>
        <p:sp>
          <p:nvSpPr>
            <p:cNvPr id="11" name="Freeform 11"/>
            <p:cNvSpPr/>
            <p:nvPr/>
          </p:nvSpPr>
          <p:spPr>
            <a:xfrm>
              <a:off x="15300917" y="286116"/>
              <a:ext cx="2952803" cy="1011539"/>
            </a:xfrm>
            <a:custGeom>
              <a:avLst/>
              <a:gdLst/>
              <a:ahLst/>
              <a:cxnLst/>
              <a:rect l="l" t="t" r="r" b="b"/>
              <a:pathLst>
                <a:path w="2952803" h="1011539">
                  <a:moveTo>
                    <a:pt x="0" y="0"/>
                  </a:moveTo>
                  <a:lnTo>
                    <a:pt x="2952803" y="0"/>
                  </a:lnTo>
                  <a:lnTo>
                    <a:pt x="2952803" y="1011539"/>
                  </a:lnTo>
                  <a:lnTo>
                    <a:pt x="0" y="1011539"/>
                  </a:lnTo>
                  <a:lnTo>
                    <a:pt x="0" y="0"/>
                  </a:lnTo>
                  <a:close/>
                </a:path>
              </a:pathLst>
            </a:custGeom>
            <a:blipFill>
              <a:blip r:embed="rId6"/>
              <a:stretch>
                <a:fillRect l="-95" t="-40049" r="-7054" b="-38629"/>
              </a:stretch>
            </a:blipFill>
          </p:spPr>
          <p:txBody>
            <a:bodyPr/>
            <a:lstStyle/>
            <a:p>
              <a:endParaRPr lang="en-SG"/>
            </a:p>
          </p:txBody>
        </p:sp>
        <p:sp>
          <p:nvSpPr>
            <p:cNvPr id="12" name="Freeform 12"/>
            <p:cNvSpPr/>
            <p:nvPr/>
          </p:nvSpPr>
          <p:spPr>
            <a:xfrm>
              <a:off x="0" y="0"/>
              <a:ext cx="7273132" cy="1972837"/>
            </a:xfrm>
            <a:custGeom>
              <a:avLst/>
              <a:gdLst/>
              <a:ahLst/>
              <a:cxnLst/>
              <a:rect l="l" t="t" r="r" b="b"/>
              <a:pathLst>
                <a:path w="7273132" h="1972837">
                  <a:moveTo>
                    <a:pt x="0" y="0"/>
                  </a:moveTo>
                  <a:lnTo>
                    <a:pt x="7273132" y="0"/>
                  </a:lnTo>
                  <a:lnTo>
                    <a:pt x="7273132" y="1972837"/>
                  </a:lnTo>
                  <a:lnTo>
                    <a:pt x="0" y="1972837"/>
                  </a:lnTo>
                  <a:lnTo>
                    <a:pt x="0" y="0"/>
                  </a:lnTo>
                  <a:close/>
                </a:path>
              </a:pathLst>
            </a:custGeom>
            <a:blipFill>
              <a:blip r:embed="rId7"/>
              <a:stretch>
                <a:fillRect/>
              </a:stretch>
            </a:blipFill>
          </p:spPr>
          <p:txBody>
            <a:bodyPr/>
            <a:lstStyle/>
            <a:p>
              <a:endParaRPr lang="en-SG"/>
            </a:p>
          </p:txBody>
        </p:sp>
      </p:grpSp>
      <p:sp>
        <p:nvSpPr>
          <p:cNvPr id="13" name="TextBox 13"/>
          <p:cNvSpPr txBox="1"/>
          <p:nvPr/>
        </p:nvSpPr>
        <p:spPr>
          <a:xfrm>
            <a:off x="-609600" y="3164634"/>
            <a:ext cx="19976215" cy="3194721"/>
          </a:xfrm>
          <a:prstGeom prst="rect">
            <a:avLst/>
          </a:prstGeom>
        </p:spPr>
        <p:txBody>
          <a:bodyPr wrap="square" lIns="0" tIns="0" rIns="0" bIns="0" rtlCol="0" anchor="t">
            <a:spAutoFit/>
          </a:bodyPr>
          <a:lstStyle/>
          <a:p>
            <a:pPr algn="ctr">
              <a:lnSpc>
                <a:spcPts val="13588"/>
              </a:lnSpc>
            </a:pPr>
            <a:r>
              <a:rPr lang="en-US" sz="4500"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DECENTRALIZED AUTONOMOUS HEALTHCARE  </a:t>
            </a:r>
          </a:p>
          <a:p>
            <a:pPr algn="ctr">
              <a:lnSpc>
                <a:spcPts val="13588"/>
              </a:lnSpc>
            </a:pPr>
            <a:r>
              <a:rPr lang="en-US" sz="4500"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LOGISTICS NETWORK</a:t>
            </a:r>
          </a:p>
        </p:txBody>
      </p:sp>
      <p:sp>
        <p:nvSpPr>
          <p:cNvPr id="14" name="TextBox 14"/>
          <p:cNvSpPr txBox="1"/>
          <p:nvPr/>
        </p:nvSpPr>
        <p:spPr>
          <a:xfrm>
            <a:off x="5257410" y="7408001"/>
            <a:ext cx="8991990" cy="822533"/>
          </a:xfrm>
          <a:prstGeom prst="rect">
            <a:avLst/>
          </a:prstGeom>
        </p:spPr>
        <p:txBody>
          <a:bodyPr wrap="square" lIns="0" tIns="0" rIns="0" bIns="0" rtlCol="0" anchor="t">
            <a:spAutoFit/>
          </a:bodyPr>
          <a:lstStyle/>
          <a:p>
            <a:pPr algn="ctr">
              <a:lnSpc>
                <a:spcPts val="7268"/>
              </a:lnSpc>
            </a:pPr>
            <a:r>
              <a:rPr lang="en-US" sz="3800"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TEAM NAME: DECODE NINJAS</a:t>
            </a:r>
          </a:p>
        </p:txBody>
      </p:sp>
    </p:spTree>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SG"/>
          </a:p>
        </p:txBody>
      </p:sp>
      <p:sp>
        <p:nvSpPr>
          <p:cNvPr id="3" name="TextBox 3"/>
          <p:cNvSpPr txBox="1"/>
          <p:nvPr/>
        </p:nvSpPr>
        <p:spPr>
          <a:xfrm>
            <a:off x="2483857" y="2686618"/>
            <a:ext cx="12596178" cy="961587"/>
          </a:xfrm>
          <a:prstGeom prst="rect">
            <a:avLst/>
          </a:prstGeom>
        </p:spPr>
        <p:txBody>
          <a:bodyPr lIns="0" tIns="0" rIns="0" bIns="0" rtlCol="0" anchor="t">
            <a:spAutoFit/>
          </a:bodyPr>
          <a:lstStyle/>
          <a:p>
            <a:pPr algn="ctr">
              <a:lnSpc>
                <a:spcPts val="7268"/>
              </a:lnSpc>
            </a:pPr>
            <a:r>
              <a:rPr lang="en-US" sz="7268"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GUIDELINES</a:t>
            </a:r>
          </a:p>
        </p:txBody>
      </p:sp>
      <p:sp>
        <p:nvSpPr>
          <p:cNvPr id="4" name="TextBox 4"/>
          <p:cNvSpPr txBox="1"/>
          <p:nvPr/>
        </p:nvSpPr>
        <p:spPr>
          <a:xfrm>
            <a:off x="632753" y="4160270"/>
            <a:ext cx="14975733" cy="5543643"/>
          </a:xfrm>
          <a:prstGeom prst="rect">
            <a:avLst/>
          </a:prstGeom>
        </p:spPr>
        <p:txBody>
          <a:bodyPr lIns="0" tIns="0" rIns="0" bIns="0" rtlCol="0" anchor="t">
            <a:spAutoFit/>
          </a:bodyPr>
          <a:lstStyle/>
          <a:p>
            <a:pPr marL="677666" lvl="1" indent="-338833" algn="l">
              <a:lnSpc>
                <a:spcPts val="4394"/>
              </a:lnSpc>
              <a:buFont typeface="Arial"/>
              <a:buChar char="•"/>
            </a:pPr>
            <a:r>
              <a:rPr lang="en-US" sz="3138" dirty="0">
                <a:solidFill>
                  <a:schemeClr val="bg1"/>
                </a:solidFill>
                <a:latin typeface="Arimo"/>
                <a:ea typeface="Arimo"/>
                <a:cs typeface="Arimo"/>
                <a:sym typeface="Arimo"/>
              </a:rPr>
              <a:t>GitHub Submission: Submit your GitHub repository 8 hours before final evaluation.</a:t>
            </a:r>
          </a:p>
          <a:p>
            <a:pPr marL="677666" lvl="1" indent="-338833" algn="l">
              <a:lnSpc>
                <a:spcPts val="4394"/>
              </a:lnSpc>
              <a:buFont typeface="Arial"/>
              <a:buChar char="•"/>
            </a:pPr>
            <a:r>
              <a:rPr lang="en-US" sz="3138" dirty="0">
                <a:solidFill>
                  <a:schemeClr val="bg1"/>
                </a:solidFill>
                <a:latin typeface="Arimo"/>
                <a:ea typeface="Arimo"/>
                <a:cs typeface="Arimo"/>
                <a:sym typeface="Arimo"/>
              </a:rPr>
              <a:t>Deployment: Deploy the complete project repository (frontend deployment optional).</a:t>
            </a:r>
          </a:p>
          <a:p>
            <a:pPr marL="677666" lvl="1" indent="-338833" algn="l">
              <a:lnSpc>
                <a:spcPts val="4394"/>
              </a:lnSpc>
              <a:buFont typeface="Arial"/>
              <a:buChar char="•"/>
            </a:pPr>
            <a:r>
              <a:rPr lang="en-US" sz="3138" dirty="0">
                <a:solidFill>
                  <a:schemeClr val="bg1"/>
                </a:solidFill>
                <a:latin typeface="Arimo"/>
                <a:ea typeface="Arimo"/>
                <a:cs typeface="Arimo"/>
                <a:sym typeface="Arimo"/>
              </a:rPr>
              <a:t>Plagiarism Check: All submissions will undergo plagiarism verification.</a:t>
            </a:r>
          </a:p>
          <a:p>
            <a:pPr marL="677666" lvl="1" indent="-338833" algn="l">
              <a:lnSpc>
                <a:spcPts val="4394"/>
              </a:lnSpc>
              <a:buFont typeface="Arial"/>
              <a:buChar char="•"/>
            </a:pPr>
            <a:r>
              <a:rPr lang="en-US" sz="3138" dirty="0">
                <a:solidFill>
                  <a:schemeClr val="bg1"/>
                </a:solidFill>
                <a:latin typeface="Arimo"/>
                <a:ea typeface="Arimo"/>
                <a:cs typeface="Arimo"/>
                <a:sym typeface="Arimo"/>
              </a:rPr>
              <a:t>Pitch Format: Round 1 &amp; Round 2 will include a 7-minute project pitch + evaluation.</a:t>
            </a:r>
          </a:p>
          <a:p>
            <a:pPr marL="677666" lvl="1" indent="-338833" algn="l">
              <a:lnSpc>
                <a:spcPts val="4394"/>
              </a:lnSpc>
              <a:buFont typeface="Arial"/>
              <a:buChar char="•"/>
            </a:pPr>
            <a:r>
              <a:rPr lang="en-US" sz="3138" dirty="0">
                <a:solidFill>
                  <a:schemeClr val="bg1"/>
                </a:solidFill>
                <a:latin typeface="Arimo"/>
                <a:ea typeface="Arimo"/>
                <a:cs typeface="Arimo"/>
                <a:sym typeface="Arimo"/>
              </a:rPr>
              <a:t>Team Requirement: Minimum 3 team members must be present during evaluation.</a:t>
            </a:r>
          </a:p>
          <a:p>
            <a:pPr algn="l">
              <a:lnSpc>
                <a:spcPts val="4394"/>
              </a:lnSpc>
              <a:spcBef>
                <a:spcPct val="0"/>
              </a:spcBef>
            </a:pPr>
            <a:endParaRPr lang="en-US" sz="3138" dirty="0">
              <a:solidFill>
                <a:srgbClr val="FFFFFF"/>
              </a:solidFill>
              <a:latin typeface="Arimo"/>
              <a:ea typeface="Arimo"/>
              <a:cs typeface="Arimo"/>
              <a:sym typeface="Arimo"/>
            </a:endParaRPr>
          </a:p>
        </p:txBody>
      </p:sp>
      <p:grpSp>
        <p:nvGrpSpPr>
          <p:cNvPr id="5" name="Group 5"/>
          <p:cNvGrpSpPr/>
          <p:nvPr/>
        </p:nvGrpSpPr>
        <p:grpSpPr>
          <a:xfrm>
            <a:off x="632753" y="636360"/>
            <a:ext cx="17103324" cy="1479628"/>
            <a:chOff x="0" y="0"/>
            <a:chExt cx="22804433" cy="1972837"/>
          </a:xfrm>
        </p:grpSpPr>
        <p:grpSp>
          <p:nvGrpSpPr>
            <p:cNvPr id="6" name="Group 6"/>
            <p:cNvGrpSpPr/>
            <p:nvPr/>
          </p:nvGrpSpPr>
          <p:grpSpPr>
            <a:xfrm>
              <a:off x="14170825" y="0"/>
              <a:ext cx="8633608" cy="1747411"/>
              <a:chOff x="0" y="0"/>
              <a:chExt cx="979436" cy="198234"/>
            </a:xfrm>
          </p:grpSpPr>
          <p:sp>
            <p:nvSpPr>
              <p:cNvPr id="7" name="Freeform 7"/>
              <p:cNvSpPr/>
              <p:nvPr/>
            </p:nvSpPr>
            <p:spPr>
              <a:xfrm>
                <a:off x="0" y="0"/>
                <a:ext cx="979436" cy="198234"/>
              </a:xfrm>
              <a:custGeom>
                <a:avLst/>
                <a:gdLst/>
                <a:ahLst/>
                <a:cxnLst/>
                <a:rect l="l" t="t" r="r" b="b"/>
                <a:pathLst>
                  <a:path w="979436" h="198234">
                    <a:moveTo>
                      <a:pt x="88476" y="0"/>
                    </a:moveTo>
                    <a:lnTo>
                      <a:pt x="890959" y="0"/>
                    </a:lnTo>
                    <a:cubicBezTo>
                      <a:pt x="939824" y="0"/>
                      <a:pt x="979436" y="39612"/>
                      <a:pt x="979436" y="88476"/>
                    </a:cubicBezTo>
                    <a:lnTo>
                      <a:pt x="979436" y="109758"/>
                    </a:lnTo>
                    <a:cubicBezTo>
                      <a:pt x="979436" y="133223"/>
                      <a:pt x="970114" y="155728"/>
                      <a:pt x="953522" y="172320"/>
                    </a:cubicBezTo>
                    <a:cubicBezTo>
                      <a:pt x="936929" y="188913"/>
                      <a:pt x="914425" y="198234"/>
                      <a:pt x="890959" y="198234"/>
                    </a:cubicBezTo>
                    <a:lnTo>
                      <a:pt x="88476" y="198234"/>
                    </a:lnTo>
                    <a:cubicBezTo>
                      <a:pt x="39612" y="198234"/>
                      <a:pt x="0" y="158622"/>
                      <a:pt x="0" y="109758"/>
                    </a:cubicBezTo>
                    <a:lnTo>
                      <a:pt x="0" y="88476"/>
                    </a:lnTo>
                    <a:cubicBezTo>
                      <a:pt x="0" y="39612"/>
                      <a:pt x="39612" y="0"/>
                      <a:pt x="88476" y="0"/>
                    </a:cubicBezTo>
                    <a:close/>
                  </a:path>
                </a:pathLst>
              </a:custGeom>
              <a:gradFill rotWithShape="1">
                <a:gsLst>
                  <a:gs pos="0">
                    <a:srgbClr val="8C52FF">
                      <a:alpha val="34000"/>
                    </a:srgbClr>
                  </a:gs>
                  <a:gs pos="100000">
                    <a:srgbClr val="00BF63">
                      <a:alpha val="34000"/>
                    </a:srgbClr>
                  </a:gs>
                </a:gsLst>
                <a:lin ang="0"/>
              </a:gradFill>
            </p:spPr>
            <p:txBody>
              <a:bodyPr/>
              <a:lstStyle/>
              <a:p>
                <a:endParaRPr lang="en-SG"/>
              </a:p>
            </p:txBody>
          </p:sp>
          <p:sp>
            <p:nvSpPr>
              <p:cNvPr id="8" name="TextBox 8"/>
              <p:cNvSpPr txBox="1"/>
              <p:nvPr/>
            </p:nvSpPr>
            <p:spPr>
              <a:xfrm>
                <a:off x="0" y="-47625"/>
                <a:ext cx="979436" cy="245859"/>
              </a:xfrm>
              <a:prstGeom prst="rect">
                <a:avLst/>
              </a:prstGeom>
            </p:spPr>
            <p:txBody>
              <a:bodyPr lIns="56452" tIns="56452" rIns="56452" bIns="56452" rtlCol="0" anchor="ctr"/>
              <a:lstStyle/>
              <a:p>
                <a:pPr algn="ctr">
                  <a:lnSpc>
                    <a:spcPts val="3440"/>
                  </a:lnSpc>
                </a:pPr>
                <a:endParaRPr/>
              </a:p>
            </p:txBody>
          </p:sp>
        </p:grpSp>
        <p:sp>
          <p:nvSpPr>
            <p:cNvPr id="9" name="TextBox 9"/>
            <p:cNvSpPr txBox="1"/>
            <p:nvPr/>
          </p:nvSpPr>
          <p:spPr>
            <a:xfrm>
              <a:off x="18542125" y="1128773"/>
              <a:ext cx="1391797" cy="405510"/>
            </a:xfrm>
            <a:prstGeom prst="rect">
              <a:avLst/>
            </a:prstGeom>
          </p:spPr>
          <p:txBody>
            <a:bodyPr lIns="0" tIns="0" rIns="0" bIns="0" rtlCol="0" anchor="t">
              <a:spAutoFit/>
            </a:bodyPr>
            <a:lstStyle/>
            <a:p>
              <a:pPr algn="ctr">
                <a:lnSpc>
                  <a:spcPts val="2537"/>
                </a:lnSpc>
              </a:pPr>
              <a:r>
                <a:rPr lang="en-US" sz="1812" b="1">
                  <a:solidFill>
                    <a:srgbClr val="FFFFFF"/>
                  </a:solidFill>
                  <a:latin typeface="Playfair Display Bold"/>
                  <a:ea typeface="Playfair Display Bold"/>
                  <a:cs typeface="Playfair Display Bold"/>
                  <a:sym typeface="Playfair Display Bold"/>
                </a:rPr>
                <a:t>ECDS</a:t>
              </a:r>
            </a:p>
          </p:txBody>
        </p:sp>
        <p:sp>
          <p:nvSpPr>
            <p:cNvPr id="10" name="Freeform 10"/>
            <p:cNvSpPr/>
            <p:nvPr/>
          </p:nvSpPr>
          <p:spPr>
            <a:xfrm>
              <a:off x="18487629" y="213128"/>
              <a:ext cx="1446293" cy="953744"/>
            </a:xfrm>
            <a:custGeom>
              <a:avLst/>
              <a:gdLst/>
              <a:ahLst/>
              <a:cxnLst/>
              <a:rect l="l" t="t" r="r" b="b"/>
              <a:pathLst>
                <a:path w="1446293" h="953744">
                  <a:moveTo>
                    <a:pt x="0" y="0"/>
                  </a:moveTo>
                  <a:lnTo>
                    <a:pt x="1446293" y="0"/>
                  </a:lnTo>
                  <a:lnTo>
                    <a:pt x="1446293" y="953745"/>
                  </a:lnTo>
                  <a:lnTo>
                    <a:pt x="0" y="953745"/>
                  </a:lnTo>
                  <a:lnTo>
                    <a:pt x="0" y="0"/>
                  </a:lnTo>
                  <a:close/>
                </a:path>
              </a:pathLst>
            </a:custGeom>
            <a:blipFill>
              <a:blip r:embed="rId3"/>
              <a:stretch>
                <a:fillRect l="-12251" t="-36010" r="-12482" b="-53141"/>
              </a:stretch>
            </a:blipFill>
          </p:spPr>
          <p:txBody>
            <a:bodyPr/>
            <a:lstStyle/>
            <a:p>
              <a:endParaRPr lang="en-SG"/>
            </a:p>
          </p:txBody>
        </p:sp>
        <p:grpSp>
          <p:nvGrpSpPr>
            <p:cNvPr id="11" name="Group 11"/>
            <p:cNvGrpSpPr/>
            <p:nvPr/>
          </p:nvGrpSpPr>
          <p:grpSpPr>
            <a:xfrm>
              <a:off x="20167830" y="331442"/>
              <a:ext cx="1084526" cy="1084526"/>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en-SG"/>
              </a:p>
            </p:txBody>
          </p:sp>
        </p:grpSp>
        <p:sp>
          <p:nvSpPr>
            <p:cNvPr id="13" name="Freeform 13"/>
            <p:cNvSpPr/>
            <p:nvPr/>
          </p:nvSpPr>
          <p:spPr>
            <a:xfrm>
              <a:off x="15300917" y="286116"/>
              <a:ext cx="2952803" cy="1011539"/>
            </a:xfrm>
            <a:custGeom>
              <a:avLst/>
              <a:gdLst/>
              <a:ahLst/>
              <a:cxnLst/>
              <a:rect l="l" t="t" r="r" b="b"/>
              <a:pathLst>
                <a:path w="2952803" h="1011539">
                  <a:moveTo>
                    <a:pt x="0" y="0"/>
                  </a:moveTo>
                  <a:lnTo>
                    <a:pt x="2952803" y="0"/>
                  </a:lnTo>
                  <a:lnTo>
                    <a:pt x="2952803" y="1011539"/>
                  </a:lnTo>
                  <a:lnTo>
                    <a:pt x="0" y="1011539"/>
                  </a:lnTo>
                  <a:lnTo>
                    <a:pt x="0" y="0"/>
                  </a:lnTo>
                  <a:close/>
                </a:path>
              </a:pathLst>
            </a:custGeom>
            <a:blipFill>
              <a:blip r:embed="rId5"/>
              <a:stretch>
                <a:fillRect l="-95" t="-40049" r="-7054" b="-38629"/>
              </a:stretch>
            </a:blipFill>
          </p:spPr>
          <p:txBody>
            <a:bodyPr/>
            <a:lstStyle/>
            <a:p>
              <a:endParaRPr lang="en-SG"/>
            </a:p>
          </p:txBody>
        </p:sp>
        <p:sp>
          <p:nvSpPr>
            <p:cNvPr id="14" name="Freeform 14"/>
            <p:cNvSpPr/>
            <p:nvPr/>
          </p:nvSpPr>
          <p:spPr>
            <a:xfrm>
              <a:off x="0" y="0"/>
              <a:ext cx="7273132" cy="1972837"/>
            </a:xfrm>
            <a:custGeom>
              <a:avLst/>
              <a:gdLst/>
              <a:ahLst/>
              <a:cxnLst/>
              <a:rect l="l" t="t" r="r" b="b"/>
              <a:pathLst>
                <a:path w="7273132" h="1972837">
                  <a:moveTo>
                    <a:pt x="0" y="0"/>
                  </a:moveTo>
                  <a:lnTo>
                    <a:pt x="7273132" y="0"/>
                  </a:lnTo>
                  <a:lnTo>
                    <a:pt x="7273132" y="1972837"/>
                  </a:lnTo>
                  <a:lnTo>
                    <a:pt x="0" y="1972837"/>
                  </a:lnTo>
                  <a:lnTo>
                    <a:pt x="0" y="0"/>
                  </a:lnTo>
                  <a:close/>
                </a:path>
              </a:pathLst>
            </a:custGeom>
            <a:blipFill>
              <a:blip r:embed="rId6"/>
              <a:stretch>
                <a:fillRect/>
              </a:stretch>
            </a:blipFill>
          </p:spPr>
          <p:txBody>
            <a:bodyPr/>
            <a:lstStyle/>
            <a:p>
              <a:endParaRPr lang="en-SG"/>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SG"/>
          </a:p>
        </p:txBody>
      </p:sp>
      <p:sp>
        <p:nvSpPr>
          <p:cNvPr id="3" name="TextBox 3"/>
          <p:cNvSpPr txBox="1"/>
          <p:nvPr/>
        </p:nvSpPr>
        <p:spPr>
          <a:xfrm>
            <a:off x="1371600" y="3076666"/>
            <a:ext cx="15621000" cy="6414128"/>
          </a:xfrm>
          <a:prstGeom prst="rect">
            <a:avLst/>
          </a:prstGeom>
        </p:spPr>
        <p:txBody>
          <a:bodyPr wrap="square" lIns="0" tIns="0" rIns="0" bIns="0" rtlCol="0" anchor="t">
            <a:spAutoFit/>
          </a:bodyPr>
          <a:lstStyle/>
          <a:p>
            <a:pPr>
              <a:lnSpc>
                <a:spcPts val="7268"/>
              </a:lnSpc>
            </a:pPr>
            <a:r>
              <a:rPr lang="en-US" sz="3200"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PROBLEM STATEMENT:</a:t>
            </a:r>
          </a:p>
          <a:p>
            <a:pPr>
              <a:lnSpc>
                <a:spcPts val="7268"/>
              </a:lnSpc>
            </a:pPr>
            <a:r>
              <a:rPr lang="en-US" sz="3000"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Healthcare facilities need to transport critical medical supplies such as vaccines, medicines, blood packets, and diagnostic samples between manufacturers, distribution centers, blood banks, and hospitals. However, current logistics systems lack real-time tracking, transparency, and secure verification of deliveries, leading to delays, disputes, and risks in handling sensitive medical materials.</a:t>
            </a:r>
          </a:p>
        </p:txBody>
      </p:sp>
      <p:grpSp>
        <p:nvGrpSpPr>
          <p:cNvPr id="4" name="Group 4"/>
          <p:cNvGrpSpPr/>
          <p:nvPr/>
        </p:nvGrpSpPr>
        <p:grpSpPr>
          <a:xfrm>
            <a:off x="632753" y="636360"/>
            <a:ext cx="17103324" cy="1479628"/>
            <a:chOff x="0" y="0"/>
            <a:chExt cx="22804433" cy="1972837"/>
          </a:xfrm>
        </p:grpSpPr>
        <p:grpSp>
          <p:nvGrpSpPr>
            <p:cNvPr id="5" name="Group 5"/>
            <p:cNvGrpSpPr/>
            <p:nvPr/>
          </p:nvGrpSpPr>
          <p:grpSpPr>
            <a:xfrm>
              <a:off x="14170825" y="0"/>
              <a:ext cx="8633608" cy="1747411"/>
              <a:chOff x="0" y="0"/>
              <a:chExt cx="979436" cy="198234"/>
            </a:xfrm>
          </p:grpSpPr>
          <p:sp>
            <p:nvSpPr>
              <p:cNvPr id="6" name="Freeform 6"/>
              <p:cNvSpPr/>
              <p:nvPr/>
            </p:nvSpPr>
            <p:spPr>
              <a:xfrm>
                <a:off x="0" y="0"/>
                <a:ext cx="979436" cy="198234"/>
              </a:xfrm>
              <a:custGeom>
                <a:avLst/>
                <a:gdLst/>
                <a:ahLst/>
                <a:cxnLst/>
                <a:rect l="l" t="t" r="r" b="b"/>
                <a:pathLst>
                  <a:path w="979436" h="198234">
                    <a:moveTo>
                      <a:pt x="88476" y="0"/>
                    </a:moveTo>
                    <a:lnTo>
                      <a:pt x="890959" y="0"/>
                    </a:lnTo>
                    <a:cubicBezTo>
                      <a:pt x="939824" y="0"/>
                      <a:pt x="979436" y="39612"/>
                      <a:pt x="979436" y="88476"/>
                    </a:cubicBezTo>
                    <a:lnTo>
                      <a:pt x="979436" y="109758"/>
                    </a:lnTo>
                    <a:cubicBezTo>
                      <a:pt x="979436" y="133223"/>
                      <a:pt x="970114" y="155728"/>
                      <a:pt x="953522" y="172320"/>
                    </a:cubicBezTo>
                    <a:cubicBezTo>
                      <a:pt x="936929" y="188913"/>
                      <a:pt x="914425" y="198234"/>
                      <a:pt x="890959" y="198234"/>
                    </a:cubicBezTo>
                    <a:lnTo>
                      <a:pt x="88476" y="198234"/>
                    </a:lnTo>
                    <a:cubicBezTo>
                      <a:pt x="39612" y="198234"/>
                      <a:pt x="0" y="158622"/>
                      <a:pt x="0" y="109758"/>
                    </a:cubicBezTo>
                    <a:lnTo>
                      <a:pt x="0" y="88476"/>
                    </a:lnTo>
                    <a:cubicBezTo>
                      <a:pt x="0" y="39612"/>
                      <a:pt x="39612" y="0"/>
                      <a:pt x="88476" y="0"/>
                    </a:cubicBezTo>
                    <a:close/>
                  </a:path>
                </a:pathLst>
              </a:custGeom>
              <a:gradFill rotWithShape="1">
                <a:gsLst>
                  <a:gs pos="0">
                    <a:srgbClr val="8C52FF">
                      <a:alpha val="34000"/>
                    </a:srgbClr>
                  </a:gs>
                  <a:gs pos="100000">
                    <a:srgbClr val="00BF63">
                      <a:alpha val="34000"/>
                    </a:srgbClr>
                  </a:gs>
                </a:gsLst>
                <a:lin ang="0"/>
              </a:gradFill>
            </p:spPr>
            <p:txBody>
              <a:bodyPr/>
              <a:lstStyle/>
              <a:p>
                <a:endParaRPr lang="en-SG"/>
              </a:p>
            </p:txBody>
          </p:sp>
          <p:sp>
            <p:nvSpPr>
              <p:cNvPr id="7" name="TextBox 7"/>
              <p:cNvSpPr txBox="1"/>
              <p:nvPr/>
            </p:nvSpPr>
            <p:spPr>
              <a:xfrm>
                <a:off x="0" y="-47625"/>
                <a:ext cx="979436" cy="245859"/>
              </a:xfrm>
              <a:prstGeom prst="rect">
                <a:avLst/>
              </a:prstGeom>
            </p:spPr>
            <p:txBody>
              <a:bodyPr lIns="56452" tIns="56452" rIns="56452" bIns="56452" rtlCol="0" anchor="ctr"/>
              <a:lstStyle/>
              <a:p>
                <a:pPr algn="ctr">
                  <a:lnSpc>
                    <a:spcPts val="3440"/>
                  </a:lnSpc>
                </a:pPr>
                <a:endParaRPr/>
              </a:p>
            </p:txBody>
          </p:sp>
        </p:grpSp>
        <p:sp>
          <p:nvSpPr>
            <p:cNvPr id="8" name="TextBox 8"/>
            <p:cNvSpPr txBox="1"/>
            <p:nvPr/>
          </p:nvSpPr>
          <p:spPr>
            <a:xfrm>
              <a:off x="18542125" y="1128773"/>
              <a:ext cx="1391797" cy="405510"/>
            </a:xfrm>
            <a:prstGeom prst="rect">
              <a:avLst/>
            </a:prstGeom>
          </p:spPr>
          <p:txBody>
            <a:bodyPr lIns="0" tIns="0" rIns="0" bIns="0" rtlCol="0" anchor="t">
              <a:spAutoFit/>
            </a:bodyPr>
            <a:lstStyle/>
            <a:p>
              <a:pPr algn="ctr">
                <a:lnSpc>
                  <a:spcPts val="2537"/>
                </a:lnSpc>
              </a:pPr>
              <a:r>
                <a:rPr lang="en-US" sz="1812" b="1">
                  <a:solidFill>
                    <a:srgbClr val="FFFFFF"/>
                  </a:solidFill>
                  <a:latin typeface="Playfair Display Bold"/>
                  <a:ea typeface="Playfair Display Bold"/>
                  <a:cs typeface="Playfair Display Bold"/>
                  <a:sym typeface="Playfair Display Bold"/>
                </a:rPr>
                <a:t>ECDS</a:t>
              </a:r>
            </a:p>
          </p:txBody>
        </p:sp>
        <p:sp>
          <p:nvSpPr>
            <p:cNvPr id="9" name="Freeform 9"/>
            <p:cNvSpPr/>
            <p:nvPr/>
          </p:nvSpPr>
          <p:spPr>
            <a:xfrm>
              <a:off x="18487629" y="213128"/>
              <a:ext cx="1446293" cy="953744"/>
            </a:xfrm>
            <a:custGeom>
              <a:avLst/>
              <a:gdLst/>
              <a:ahLst/>
              <a:cxnLst/>
              <a:rect l="l" t="t" r="r" b="b"/>
              <a:pathLst>
                <a:path w="1446293" h="953744">
                  <a:moveTo>
                    <a:pt x="0" y="0"/>
                  </a:moveTo>
                  <a:lnTo>
                    <a:pt x="1446293" y="0"/>
                  </a:lnTo>
                  <a:lnTo>
                    <a:pt x="1446293" y="953745"/>
                  </a:lnTo>
                  <a:lnTo>
                    <a:pt x="0" y="953745"/>
                  </a:lnTo>
                  <a:lnTo>
                    <a:pt x="0" y="0"/>
                  </a:lnTo>
                  <a:close/>
                </a:path>
              </a:pathLst>
            </a:custGeom>
            <a:blipFill>
              <a:blip r:embed="rId3"/>
              <a:stretch>
                <a:fillRect l="-12251" t="-36010" r="-12482" b="-53141"/>
              </a:stretch>
            </a:blipFill>
          </p:spPr>
          <p:txBody>
            <a:bodyPr/>
            <a:lstStyle/>
            <a:p>
              <a:endParaRPr lang="en-SG"/>
            </a:p>
          </p:txBody>
        </p:sp>
        <p:grpSp>
          <p:nvGrpSpPr>
            <p:cNvPr id="10" name="Group 10"/>
            <p:cNvGrpSpPr/>
            <p:nvPr/>
          </p:nvGrpSpPr>
          <p:grpSpPr>
            <a:xfrm>
              <a:off x="20167830" y="331442"/>
              <a:ext cx="1084526" cy="1084526"/>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en-SG"/>
              </a:p>
            </p:txBody>
          </p:sp>
        </p:grpSp>
        <p:sp>
          <p:nvSpPr>
            <p:cNvPr id="12" name="Freeform 12"/>
            <p:cNvSpPr/>
            <p:nvPr/>
          </p:nvSpPr>
          <p:spPr>
            <a:xfrm>
              <a:off x="15300917" y="286116"/>
              <a:ext cx="2952803" cy="1011539"/>
            </a:xfrm>
            <a:custGeom>
              <a:avLst/>
              <a:gdLst/>
              <a:ahLst/>
              <a:cxnLst/>
              <a:rect l="l" t="t" r="r" b="b"/>
              <a:pathLst>
                <a:path w="2952803" h="1011539">
                  <a:moveTo>
                    <a:pt x="0" y="0"/>
                  </a:moveTo>
                  <a:lnTo>
                    <a:pt x="2952803" y="0"/>
                  </a:lnTo>
                  <a:lnTo>
                    <a:pt x="2952803" y="1011539"/>
                  </a:lnTo>
                  <a:lnTo>
                    <a:pt x="0" y="1011539"/>
                  </a:lnTo>
                  <a:lnTo>
                    <a:pt x="0" y="0"/>
                  </a:lnTo>
                  <a:close/>
                </a:path>
              </a:pathLst>
            </a:custGeom>
            <a:blipFill>
              <a:blip r:embed="rId5"/>
              <a:stretch>
                <a:fillRect l="-95" t="-40049" r="-7054" b="-38629"/>
              </a:stretch>
            </a:blipFill>
          </p:spPr>
          <p:txBody>
            <a:bodyPr/>
            <a:lstStyle/>
            <a:p>
              <a:endParaRPr lang="en-SG"/>
            </a:p>
          </p:txBody>
        </p:sp>
        <p:sp>
          <p:nvSpPr>
            <p:cNvPr id="13" name="Freeform 13"/>
            <p:cNvSpPr/>
            <p:nvPr/>
          </p:nvSpPr>
          <p:spPr>
            <a:xfrm>
              <a:off x="0" y="0"/>
              <a:ext cx="7273132" cy="1972837"/>
            </a:xfrm>
            <a:custGeom>
              <a:avLst/>
              <a:gdLst/>
              <a:ahLst/>
              <a:cxnLst/>
              <a:rect l="l" t="t" r="r" b="b"/>
              <a:pathLst>
                <a:path w="7273132" h="1972837">
                  <a:moveTo>
                    <a:pt x="0" y="0"/>
                  </a:moveTo>
                  <a:lnTo>
                    <a:pt x="7273132" y="0"/>
                  </a:lnTo>
                  <a:lnTo>
                    <a:pt x="7273132" y="1972837"/>
                  </a:lnTo>
                  <a:lnTo>
                    <a:pt x="0" y="1972837"/>
                  </a:lnTo>
                  <a:lnTo>
                    <a:pt x="0" y="0"/>
                  </a:lnTo>
                  <a:close/>
                </a:path>
              </a:pathLst>
            </a:custGeom>
            <a:blipFill>
              <a:blip r:embed="rId6"/>
              <a:stretch>
                <a:fillRect/>
              </a:stretch>
            </a:blipFill>
          </p:spPr>
          <p:txBody>
            <a:bodyPr/>
            <a:lstStyle/>
            <a:p>
              <a:endParaRPr lang="en-SG"/>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pPr algn="ctr">
              <a:lnSpc>
                <a:spcPts val="7300"/>
              </a:lnSpc>
            </a:pPr>
            <a:endParaRPr lang="en-US"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endParaRPr>
          </a:p>
        </p:txBody>
      </p:sp>
      <p:sp>
        <p:nvSpPr>
          <p:cNvPr id="3" name="TextBox 3"/>
          <p:cNvSpPr txBox="1"/>
          <p:nvPr/>
        </p:nvSpPr>
        <p:spPr>
          <a:xfrm>
            <a:off x="2817978" y="4640258"/>
            <a:ext cx="12596178" cy="961587"/>
          </a:xfrm>
          <a:prstGeom prst="rect">
            <a:avLst/>
          </a:prstGeom>
        </p:spPr>
        <p:txBody>
          <a:bodyPr lIns="0" tIns="0" rIns="0" bIns="0" rtlCol="0" anchor="t">
            <a:spAutoFit/>
          </a:bodyPr>
          <a:lstStyle/>
          <a:p>
            <a:pPr algn="ctr">
              <a:lnSpc>
                <a:spcPts val="7268"/>
              </a:lnSpc>
            </a:pPr>
            <a:endParaRPr lang="en-US" sz="7268"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endParaRPr>
          </a:p>
        </p:txBody>
      </p:sp>
      <p:grpSp>
        <p:nvGrpSpPr>
          <p:cNvPr id="4" name="Group 4"/>
          <p:cNvGrpSpPr/>
          <p:nvPr/>
        </p:nvGrpSpPr>
        <p:grpSpPr>
          <a:xfrm>
            <a:off x="632753" y="636360"/>
            <a:ext cx="17103324" cy="1479628"/>
            <a:chOff x="0" y="0"/>
            <a:chExt cx="22804433" cy="1972837"/>
          </a:xfrm>
        </p:grpSpPr>
        <p:grpSp>
          <p:nvGrpSpPr>
            <p:cNvPr id="5" name="Group 5"/>
            <p:cNvGrpSpPr/>
            <p:nvPr/>
          </p:nvGrpSpPr>
          <p:grpSpPr>
            <a:xfrm>
              <a:off x="14170825" y="0"/>
              <a:ext cx="8633608" cy="1747411"/>
              <a:chOff x="0" y="0"/>
              <a:chExt cx="979436" cy="198234"/>
            </a:xfrm>
          </p:grpSpPr>
          <p:sp>
            <p:nvSpPr>
              <p:cNvPr id="6" name="Freeform 6"/>
              <p:cNvSpPr/>
              <p:nvPr/>
            </p:nvSpPr>
            <p:spPr>
              <a:xfrm>
                <a:off x="0" y="0"/>
                <a:ext cx="979436" cy="198234"/>
              </a:xfrm>
              <a:custGeom>
                <a:avLst/>
                <a:gdLst/>
                <a:ahLst/>
                <a:cxnLst/>
                <a:rect l="l" t="t" r="r" b="b"/>
                <a:pathLst>
                  <a:path w="979436" h="198234">
                    <a:moveTo>
                      <a:pt x="88476" y="0"/>
                    </a:moveTo>
                    <a:lnTo>
                      <a:pt x="890959" y="0"/>
                    </a:lnTo>
                    <a:cubicBezTo>
                      <a:pt x="939824" y="0"/>
                      <a:pt x="979436" y="39612"/>
                      <a:pt x="979436" y="88476"/>
                    </a:cubicBezTo>
                    <a:lnTo>
                      <a:pt x="979436" y="109758"/>
                    </a:lnTo>
                    <a:cubicBezTo>
                      <a:pt x="979436" y="133223"/>
                      <a:pt x="970114" y="155728"/>
                      <a:pt x="953522" y="172320"/>
                    </a:cubicBezTo>
                    <a:cubicBezTo>
                      <a:pt x="936929" y="188913"/>
                      <a:pt x="914425" y="198234"/>
                      <a:pt x="890959" y="198234"/>
                    </a:cubicBezTo>
                    <a:lnTo>
                      <a:pt x="88476" y="198234"/>
                    </a:lnTo>
                    <a:cubicBezTo>
                      <a:pt x="39612" y="198234"/>
                      <a:pt x="0" y="158622"/>
                      <a:pt x="0" y="109758"/>
                    </a:cubicBezTo>
                    <a:lnTo>
                      <a:pt x="0" y="88476"/>
                    </a:lnTo>
                    <a:cubicBezTo>
                      <a:pt x="0" y="39612"/>
                      <a:pt x="39612" y="0"/>
                      <a:pt x="88476" y="0"/>
                    </a:cubicBezTo>
                    <a:close/>
                  </a:path>
                </a:pathLst>
              </a:custGeom>
              <a:gradFill rotWithShape="1">
                <a:gsLst>
                  <a:gs pos="0">
                    <a:srgbClr val="8C52FF">
                      <a:alpha val="34000"/>
                    </a:srgbClr>
                  </a:gs>
                  <a:gs pos="100000">
                    <a:srgbClr val="00BF63">
                      <a:alpha val="34000"/>
                    </a:srgbClr>
                  </a:gs>
                </a:gsLst>
                <a:lin ang="0"/>
              </a:gradFill>
            </p:spPr>
            <p:txBody>
              <a:bodyPr/>
              <a:lstStyle/>
              <a:p>
                <a:endParaRPr lang="en-SG"/>
              </a:p>
            </p:txBody>
          </p:sp>
          <p:sp>
            <p:nvSpPr>
              <p:cNvPr id="7" name="TextBox 7"/>
              <p:cNvSpPr txBox="1"/>
              <p:nvPr/>
            </p:nvSpPr>
            <p:spPr>
              <a:xfrm>
                <a:off x="0" y="-47625"/>
                <a:ext cx="979436" cy="245859"/>
              </a:xfrm>
              <a:prstGeom prst="rect">
                <a:avLst/>
              </a:prstGeom>
            </p:spPr>
            <p:txBody>
              <a:bodyPr lIns="56452" tIns="56452" rIns="56452" bIns="56452" rtlCol="0" anchor="ctr"/>
              <a:lstStyle/>
              <a:p>
                <a:pPr algn="ctr">
                  <a:lnSpc>
                    <a:spcPts val="3440"/>
                  </a:lnSpc>
                </a:pPr>
                <a:endParaRPr/>
              </a:p>
            </p:txBody>
          </p:sp>
        </p:grpSp>
        <p:sp>
          <p:nvSpPr>
            <p:cNvPr id="8" name="TextBox 8"/>
            <p:cNvSpPr txBox="1"/>
            <p:nvPr/>
          </p:nvSpPr>
          <p:spPr>
            <a:xfrm>
              <a:off x="18542125" y="1128773"/>
              <a:ext cx="1391797" cy="405510"/>
            </a:xfrm>
            <a:prstGeom prst="rect">
              <a:avLst/>
            </a:prstGeom>
          </p:spPr>
          <p:txBody>
            <a:bodyPr lIns="0" tIns="0" rIns="0" bIns="0" rtlCol="0" anchor="t">
              <a:spAutoFit/>
            </a:bodyPr>
            <a:lstStyle/>
            <a:p>
              <a:pPr algn="ctr">
                <a:lnSpc>
                  <a:spcPts val="2537"/>
                </a:lnSpc>
              </a:pPr>
              <a:r>
                <a:rPr lang="en-US" sz="1812" b="1">
                  <a:solidFill>
                    <a:srgbClr val="FFFFFF"/>
                  </a:solidFill>
                  <a:latin typeface="Playfair Display Bold"/>
                  <a:ea typeface="Playfair Display Bold"/>
                  <a:cs typeface="Playfair Display Bold"/>
                  <a:sym typeface="Playfair Display Bold"/>
                </a:rPr>
                <a:t>ECDS</a:t>
              </a:r>
            </a:p>
          </p:txBody>
        </p:sp>
        <p:sp>
          <p:nvSpPr>
            <p:cNvPr id="9" name="Freeform 9"/>
            <p:cNvSpPr/>
            <p:nvPr/>
          </p:nvSpPr>
          <p:spPr>
            <a:xfrm>
              <a:off x="18487629" y="213128"/>
              <a:ext cx="1446293" cy="953744"/>
            </a:xfrm>
            <a:custGeom>
              <a:avLst/>
              <a:gdLst/>
              <a:ahLst/>
              <a:cxnLst/>
              <a:rect l="l" t="t" r="r" b="b"/>
              <a:pathLst>
                <a:path w="1446293" h="953744">
                  <a:moveTo>
                    <a:pt x="0" y="0"/>
                  </a:moveTo>
                  <a:lnTo>
                    <a:pt x="1446293" y="0"/>
                  </a:lnTo>
                  <a:lnTo>
                    <a:pt x="1446293" y="953745"/>
                  </a:lnTo>
                  <a:lnTo>
                    <a:pt x="0" y="953745"/>
                  </a:lnTo>
                  <a:lnTo>
                    <a:pt x="0" y="0"/>
                  </a:lnTo>
                  <a:close/>
                </a:path>
              </a:pathLst>
            </a:custGeom>
            <a:blipFill>
              <a:blip r:embed="rId3"/>
              <a:stretch>
                <a:fillRect l="-12251" t="-36010" r="-12482" b="-53141"/>
              </a:stretch>
            </a:blipFill>
          </p:spPr>
          <p:txBody>
            <a:bodyPr/>
            <a:lstStyle/>
            <a:p>
              <a:endParaRPr lang="en-SG"/>
            </a:p>
          </p:txBody>
        </p:sp>
        <p:grpSp>
          <p:nvGrpSpPr>
            <p:cNvPr id="10" name="Group 10"/>
            <p:cNvGrpSpPr/>
            <p:nvPr/>
          </p:nvGrpSpPr>
          <p:grpSpPr>
            <a:xfrm>
              <a:off x="20167830" y="331442"/>
              <a:ext cx="1084526" cy="1084526"/>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en-SG"/>
              </a:p>
            </p:txBody>
          </p:sp>
        </p:grpSp>
        <p:sp>
          <p:nvSpPr>
            <p:cNvPr id="12" name="Freeform 12"/>
            <p:cNvSpPr/>
            <p:nvPr/>
          </p:nvSpPr>
          <p:spPr>
            <a:xfrm>
              <a:off x="15300917" y="286116"/>
              <a:ext cx="2952803" cy="1011539"/>
            </a:xfrm>
            <a:custGeom>
              <a:avLst/>
              <a:gdLst/>
              <a:ahLst/>
              <a:cxnLst/>
              <a:rect l="l" t="t" r="r" b="b"/>
              <a:pathLst>
                <a:path w="2952803" h="1011539">
                  <a:moveTo>
                    <a:pt x="0" y="0"/>
                  </a:moveTo>
                  <a:lnTo>
                    <a:pt x="2952803" y="0"/>
                  </a:lnTo>
                  <a:lnTo>
                    <a:pt x="2952803" y="1011539"/>
                  </a:lnTo>
                  <a:lnTo>
                    <a:pt x="0" y="1011539"/>
                  </a:lnTo>
                  <a:lnTo>
                    <a:pt x="0" y="0"/>
                  </a:lnTo>
                  <a:close/>
                </a:path>
              </a:pathLst>
            </a:custGeom>
            <a:blipFill>
              <a:blip r:embed="rId5"/>
              <a:stretch>
                <a:fillRect l="-95" t="-40049" r="-7054" b="-38629"/>
              </a:stretch>
            </a:blipFill>
          </p:spPr>
          <p:txBody>
            <a:bodyPr/>
            <a:lstStyle/>
            <a:p>
              <a:endParaRPr lang="en-SG"/>
            </a:p>
          </p:txBody>
        </p:sp>
        <p:sp>
          <p:nvSpPr>
            <p:cNvPr id="13" name="Freeform 13"/>
            <p:cNvSpPr/>
            <p:nvPr/>
          </p:nvSpPr>
          <p:spPr>
            <a:xfrm>
              <a:off x="0" y="0"/>
              <a:ext cx="7273132" cy="1972837"/>
            </a:xfrm>
            <a:custGeom>
              <a:avLst/>
              <a:gdLst/>
              <a:ahLst/>
              <a:cxnLst/>
              <a:rect l="l" t="t" r="r" b="b"/>
              <a:pathLst>
                <a:path w="7273132" h="1972837">
                  <a:moveTo>
                    <a:pt x="0" y="0"/>
                  </a:moveTo>
                  <a:lnTo>
                    <a:pt x="7273132" y="0"/>
                  </a:lnTo>
                  <a:lnTo>
                    <a:pt x="7273132" y="1972837"/>
                  </a:lnTo>
                  <a:lnTo>
                    <a:pt x="0" y="1972837"/>
                  </a:lnTo>
                  <a:lnTo>
                    <a:pt x="0" y="0"/>
                  </a:lnTo>
                  <a:close/>
                </a:path>
              </a:pathLst>
            </a:custGeom>
            <a:blipFill>
              <a:blip r:embed="rId6"/>
              <a:stretch>
                <a:fillRect/>
              </a:stretch>
            </a:blipFill>
          </p:spPr>
          <p:txBody>
            <a:bodyPr/>
            <a:lstStyle/>
            <a:p>
              <a:endParaRPr lang="en-SG"/>
            </a:p>
          </p:txBody>
        </p:sp>
      </p:grpSp>
      <p:sp>
        <p:nvSpPr>
          <p:cNvPr id="16" name="TextBox 15">
            <a:extLst>
              <a:ext uri="{FF2B5EF4-FFF2-40B4-BE49-F238E27FC236}">
                <a16:creationId xmlns:a16="http://schemas.microsoft.com/office/drawing/2014/main" id="{ED7C1CE5-C965-0007-8CE1-0A0B3837F8F9}"/>
              </a:ext>
            </a:extLst>
          </p:cNvPr>
          <p:cNvSpPr txBox="1"/>
          <p:nvPr/>
        </p:nvSpPr>
        <p:spPr>
          <a:xfrm>
            <a:off x="1219199" y="3390900"/>
            <a:ext cx="16516877" cy="4649991"/>
          </a:xfrm>
          <a:prstGeom prst="rect">
            <a:avLst/>
          </a:prstGeom>
          <a:noFill/>
        </p:spPr>
        <p:txBody>
          <a:bodyPr wrap="square">
            <a:spAutoFit/>
          </a:bodyPr>
          <a:lstStyle/>
          <a:p>
            <a:pPr>
              <a:lnSpc>
                <a:spcPts val="7300"/>
              </a:lnSpc>
            </a:pPr>
            <a:r>
              <a:rPr lang="en-US" sz="3500" b="1" u="sng"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INNOVATIONS:</a:t>
            </a:r>
          </a:p>
          <a:p>
            <a:pPr marL="457200" indent="-457200">
              <a:lnSpc>
                <a:spcPts val="7300"/>
              </a:lnSpc>
              <a:buFont typeface="Arial" panose="020B0604020202020204" pitchFamily="34" charset="0"/>
              <a:buChar char="•"/>
            </a:pPr>
            <a:r>
              <a:rPr lang="en-US" sz="3500"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Blockchain-Based Secure Medical Logistics</a:t>
            </a:r>
          </a:p>
          <a:p>
            <a:pPr marL="457200" indent="-457200">
              <a:lnSpc>
                <a:spcPts val="7300"/>
              </a:lnSpc>
              <a:buFont typeface="Arial" panose="020B0604020202020204" pitchFamily="34" charset="0"/>
              <a:buChar char="•"/>
            </a:pPr>
            <a:r>
              <a:rPr lang="en-US" sz="3500"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Smart Contract-Based Automated Delivery Management</a:t>
            </a:r>
          </a:p>
          <a:p>
            <a:pPr marL="457200" indent="-457200">
              <a:lnSpc>
                <a:spcPts val="7300"/>
              </a:lnSpc>
              <a:buFont typeface="Arial" panose="020B0604020202020204" pitchFamily="34" charset="0"/>
              <a:buChar char="•"/>
            </a:pPr>
            <a:r>
              <a:rPr lang="en-US" sz="3500"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Real-Time Tracking with Automated Alert System</a:t>
            </a:r>
          </a:p>
          <a:p>
            <a:pPr marL="457200" indent="-457200">
              <a:lnSpc>
                <a:spcPts val="7300"/>
              </a:lnSpc>
              <a:buFont typeface="Arial" panose="020B0604020202020204" pitchFamily="34" charset="0"/>
              <a:buChar char="•"/>
            </a:pPr>
            <a:r>
              <a:rPr lang="en-US" sz="3500"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AI-Based Provider Evaluation and Reputation System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SG"/>
          </a:p>
        </p:txBody>
      </p:sp>
      <p:sp>
        <p:nvSpPr>
          <p:cNvPr id="3" name="TextBox 3"/>
          <p:cNvSpPr txBox="1"/>
          <p:nvPr/>
        </p:nvSpPr>
        <p:spPr>
          <a:xfrm>
            <a:off x="0" y="2339178"/>
            <a:ext cx="18288000" cy="8286436"/>
          </a:xfrm>
          <a:prstGeom prst="rect">
            <a:avLst/>
          </a:prstGeom>
        </p:spPr>
        <p:txBody>
          <a:bodyPr wrap="square" lIns="0" tIns="0" rIns="0" bIns="0" rtlCol="0" anchor="t">
            <a:spAutoFit/>
          </a:bodyPr>
          <a:lstStyle/>
          <a:p>
            <a:pPr>
              <a:lnSpc>
                <a:spcPts val="7300"/>
              </a:lnSpc>
            </a:pPr>
            <a:r>
              <a:rPr lang="en-US" sz="4000" b="1" u="sng"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SOLUTION:</a:t>
            </a:r>
          </a:p>
          <a:p>
            <a:pPr marL="457200" indent="-457200">
              <a:lnSpc>
                <a:spcPts val="7300"/>
              </a:lnSpc>
              <a:buFont typeface="Arial" panose="020B0604020202020204" pitchFamily="34" charset="0"/>
              <a:buChar char="•"/>
            </a:pPr>
            <a:r>
              <a:rPr lang="en-US" sz="3000"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The hospital administrator submits a transport request with pickup location, delivery location, cargo type (vaccines), storage conditions, and delivery time.</a:t>
            </a:r>
          </a:p>
          <a:p>
            <a:pPr marL="457200" indent="-457200">
              <a:lnSpc>
                <a:spcPts val="7300"/>
              </a:lnSpc>
              <a:buFont typeface="Arial" panose="020B0604020202020204" pitchFamily="34" charset="0"/>
              <a:buChar char="•"/>
            </a:pPr>
            <a:r>
              <a:rPr lang="en-US" sz="3000"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A smart contract is created on the blockchain, and the request becomes visible to verified transport providers.</a:t>
            </a:r>
          </a:p>
          <a:p>
            <a:pPr marL="457200" indent="-457200">
              <a:lnSpc>
                <a:spcPts val="7300"/>
              </a:lnSpc>
              <a:buFont typeface="Arial" panose="020B0604020202020204" pitchFamily="34" charset="0"/>
              <a:buChar char="•"/>
            </a:pPr>
            <a:r>
              <a:rPr lang="en-US" sz="3000"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Transport providers send proposals with price, delivery time, vehicle details credentials.</a:t>
            </a:r>
          </a:p>
          <a:p>
            <a:pPr marL="457200" indent="-457200">
              <a:lnSpc>
                <a:spcPts val="7300"/>
              </a:lnSpc>
              <a:buFont typeface="Arial" panose="020B0604020202020204" pitchFamily="34" charset="0"/>
              <a:buChar char="•"/>
            </a:pPr>
            <a:r>
              <a:rPr lang="en-US" sz="3000"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The platform compares the proposals based on cost, reliability, and delivery time, and selects the best provider.</a:t>
            </a:r>
          </a:p>
          <a:p>
            <a:pPr algn="ctr">
              <a:lnSpc>
                <a:spcPts val="7300"/>
              </a:lnSpc>
            </a:pPr>
            <a:endParaRPr lang="en-US" sz="3000"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endParaRPr>
          </a:p>
        </p:txBody>
      </p:sp>
      <p:grpSp>
        <p:nvGrpSpPr>
          <p:cNvPr id="4" name="Group 4"/>
          <p:cNvGrpSpPr/>
          <p:nvPr/>
        </p:nvGrpSpPr>
        <p:grpSpPr>
          <a:xfrm>
            <a:off x="632753" y="636360"/>
            <a:ext cx="17103324" cy="1479628"/>
            <a:chOff x="0" y="0"/>
            <a:chExt cx="22804433" cy="1972837"/>
          </a:xfrm>
        </p:grpSpPr>
        <p:grpSp>
          <p:nvGrpSpPr>
            <p:cNvPr id="5" name="Group 5"/>
            <p:cNvGrpSpPr/>
            <p:nvPr/>
          </p:nvGrpSpPr>
          <p:grpSpPr>
            <a:xfrm>
              <a:off x="14170825" y="0"/>
              <a:ext cx="8633608" cy="1747411"/>
              <a:chOff x="0" y="0"/>
              <a:chExt cx="979436" cy="198234"/>
            </a:xfrm>
          </p:grpSpPr>
          <p:sp>
            <p:nvSpPr>
              <p:cNvPr id="6" name="Freeform 6"/>
              <p:cNvSpPr/>
              <p:nvPr/>
            </p:nvSpPr>
            <p:spPr>
              <a:xfrm>
                <a:off x="0" y="0"/>
                <a:ext cx="979436" cy="198234"/>
              </a:xfrm>
              <a:custGeom>
                <a:avLst/>
                <a:gdLst/>
                <a:ahLst/>
                <a:cxnLst/>
                <a:rect l="l" t="t" r="r" b="b"/>
                <a:pathLst>
                  <a:path w="979436" h="198234">
                    <a:moveTo>
                      <a:pt x="88476" y="0"/>
                    </a:moveTo>
                    <a:lnTo>
                      <a:pt x="890959" y="0"/>
                    </a:lnTo>
                    <a:cubicBezTo>
                      <a:pt x="939824" y="0"/>
                      <a:pt x="979436" y="39612"/>
                      <a:pt x="979436" y="88476"/>
                    </a:cubicBezTo>
                    <a:lnTo>
                      <a:pt x="979436" y="109758"/>
                    </a:lnTo>
                    <a:cubicBezTo>
                      <a:pt x="979436" y="133223"/>
                      <a:pt x="970114" y="155728"/>
                      <a:pt x="953522" y="172320"/>
                    </a:cubicBezTo>
                    <a:cubicBezTo>
                      <a:pt x="936929" y="188913"/>
                      <a:pt x="914425" y="198234"/>
                      <a:pt x="890959" y="198234"/>
                    </a:cubicBezTo>
                    <a:lnTo>
                      <a:pt x="88476" y="198234"/>
                    </a:lnTo>
                    <a:cubicBezTo>
                      <a:pt x="39612" y="198234"/>
                      <a:pt x="0" y="158622"/>
                      <a:pt x="0" y="109758"/>
                    </a:cubicBezTo>
                    <a:lnTo>
                      <a:pt x="0" y="88476"/>
                    </a:lnTo>
                    <a:cubicBezTo>
                      <a:pt x="0" y="39612"/>
                      <a:pt x="39612" y="0"/>
                      <a:pt x="88476" y="0"/>
                    </a:cubicBezTo>
                    <a:close/>
                  </a:path>
                </a:pathLst>
              </a:custGeom>
              <a:gradFill rotWithShape="1">
                <a:gsLst>
                  <a:gs pos="0">
                    <a:srgbClr val="8C52FF">
                      <a:alpha val="34000"/>
                    </a:srgbClr>
                  </a:gs>
                  <a:gs pos="100000">
                    <a:srgbClr val="00BF63">
                      <a:alpha val="34000"/>
                    </a:srgbClr>
                  </a:gs>
                </a:gsLst>
                <a:lin ang="0"/>
              </a:gradFill>
            </p:spPr>
            <p:txBody>
              <a:bodyPr/>
              <a:lstStyle/>
              <a:p>
                <a:endParaRPr lang="en-SG"/>
              </a:p>
            </p:txBody>
          </p:sp>
          <p:sp>
            <p:nvSpPr>
              <p:cNvPr id="7" name="TextBox 7"/>
              <p:cNvSpPr txBox="1"/>
              <p:nvPr/>
            </p:nvSpPr>
            <p:spPr>
              <a:xfrm>
                <a:off x="0" y="-47625"/>
                <a:ext cx="979436" cy="245859"/>
              </a:xfrm>
              <a:prstGeom prst="rect">
                <a:avLst/>
              </a:prstGeom>
            </p:spPr>
            <p:txBody>
              <a:bodyPr lIns="56452" tIns="56452" rIns="56452" bIns="56452" rtlCol="0" anchor="ctr"/>
              <a:lstStyle/>
              <a:p>
                <a:pPr algn="ctr">
                  <a:lnSpc>
                    <a:spcPts val="3440"/>
                  </a:lnSpc>
                </a:pPr>
                <a:endParaRPr/>
              </a:p>
            </p:txBody>
          </p:sp>
        </p:grpSp>
        <p:sp>
          <p:nvSpPr>
            <p:cNvPr id="8" name="TextBox 8"/>
            <p:cNvSpPr txBox="1"/>
            <p:nvPr/>
          </p:nvSpPr>
          <p:spPr>
            <a:xfrm>
              <a:off x="18542125" y="1128773"/>
              <a:ext cx="1391797" cy="405510"/>
            </a:xfrm>
            <a:prstGeom prst="rect">
              <a:avLst/>
            </a:prstGeom>
          </p:spPr>
          <p:txBody>
            <a:bodyPr lIns="0" tIns="0" rIns="0" bIns="0" rtlCol="0" anchor="t">
              <a:spAutoFit/>
            </a:bodyPr>
            <a:lstStyle/>
            <a:p>
              <a:pPr algn="ctr">
                <a:lnSpc>
                  <a:spcPts val="2537"/>
                </a:lnSpc>
              </a:pPr>
              <a:r>
                <a:rPr lang="en-US" sz="1812" b="1">
                  <a:solidFill>
                    <a:srgbClr val="FFFFFF"/>
                  </a:solidFill>
                  <a:latin typeface="Playfair Display Bold"/>
                  <a:ea typeface="Playfair Display Bold"/>
                  <a:cs typeface="Playfair Display Bold"/>
                  <a:sym typeface="Playfair Display Bold"/>
                </a:rPr>
                <a:t>ECDS</a:t>
              </a:r>
            </a:p>
          </p:txBody>
        </p:sp>
        <p:sp>
          <p:nvSpPr>
            <p:cNvPr id="9" name="Freeform 9"/>
            <p:cNvSpPr/>
            <p:nvPr/>
          </p:nvSpPr>
          <p:spPr>
            <a:xfrm>
              <a:off x="18487629" y="213128"/>
              <a:ext cx="1446293" cy="953744"/>
            </a:xfrm>
            <a:custGeom>
              <a:avLst/>
              <a:gdLst/>
              <a:ahLst/>
              <a:cxnLst/>
              <a:rect l="l" t="t" r="r" b="b"/>
              <a:pathLst>
                <a:path w="1446293" h="953744">
                  <a:moveTo>
                    <a:pt x="0" y="0"/>
                  </a:moveTo>
                  <a:lnTo>
                    <a:pt x="1446293" y="0"/>
                  </a:lnTo>
                  <a:lnTo>
                    <a:pt x="1446293" y="953745"/>
                  </a:lnTo>
                  <a:lnTo>
                    <a:pt x="0" y="953745"/>
                  </a:lnTo>
                  <a:lnTo>
                    <a:pt x="0" y="0"/>
                  </a:lnTo>
                  <a:close/>
                </a:path>
              </a:pathLst>
            </a:custGeom>
            <a:blipFill>
              <a:blip r:embed="rId3"/>
              <a:stretch>
                <a:fillRect l="-12251" t="-36010" r="-12482" b="-53141"/>
              </a:stretch>
            </a:blipFill>
          </p:spPr>
          <p:txBody>
            <a:bodyPr/>
            <a:lstStyle/>
            <a:p>
              <a:endParaRPr lang="en-SG"/>
            </a:p>
          </p:txBody>
        </p:sp>
        <p:grpSp>
          <p:nvGrpSpPr>
            <p:cNvPr id="10" name="Group 10"/>
            <p:cNvGrpSpPr/>
            <p:nvPr/>
          </p:nvGrpSpPr>
          <p:grpSpPr>
            <a:xfrm>
              <a:off x="20167830" y="331442"/>
              <a:ext cx="1084526" cy="1084526"/>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en-SG"/>
              </a:p>
            </p:txBody>
          </p:sp>
        </p:grpSp>
        <p:sp>
          <p:nvSpPr>
            <p:cNvPr id="12" name="Freeform 12"/>
            <p:cNvSpPr/>
            <p:nvPr/>
          </p:nvSpPr>
          <p:spPr>
            <a:xfrm>
              <a:off x="15300917" y="286116"/>
              <a:ext cx="2952803" cy="1011539"/>
            </a:xfrm>
            <a:custGeom>
              <a:avLst/>
              <a:gdLst/>
              <a:ahLst/>
              <a:cxnLst/>
              <a:rect l="l" t="t" r="r" b="b"/>
              <a:pathLst>
                <a:path w="2952803" h="1011539">
                  <a:moveTo>
                    <a:pt x="0" y="0"/>
                  </a:moveTo>
                  <a:lnTo>
                    <a:pt x="2952803" y="0"/>
                  </a:lnTo>
                  <a:lnTo>
                    <a:pt x="2952803" y="1011539"/>
                  </a:lnTo>
                  <a:lnTo>
                    <a:pt x="0" y="1011539"/>
                  </a:lnTo>
                  <a:lnTo>
                    <a:pt x="0" y="0"/>
                  </a:lnTo>
                  <a:close/>
                </a:path>
              </a:pathLst>
            </a:custGeom>
            <a:blipFill>
              <a:blip r:embed="rId5"/>
              <a:stretch>
                <a:fillRect l="-95" t="-40049" r="-7054" b="-38629"/>
              </a:stretch>
            </a:blipFill>
          </p:spPr>
          <p:txBody>
            <a:bodyPr/>
            <a:lstStyle/>
            <a:p>
              <a:endParaRPr lang="en-SG"/>
            </a:p>
          </p:txBody>
        </p:sp>
        <p:sp>
          <p:nvSpPr>
            <p:cNvPr id="13" name="Freeform 13"/>
            <p:cNvSpPr/>
            <p:nvPr/>
          </p:nvSpPr>
          <p:spPr>
            <a:xfrm>
              <a:off x="0" y="0"/>
              <a:ext cx="7273132" cy="1972837"/>
            </a:xfrm>
            <a:custGeom>
              <a:avLst/>
              <a:gdLst/>
              <a:ahLst/>
              <a:cxnLst/>
              <a:rect l="l" t="t" r="r" b="b"/>
              <a:pathLst>
                <a:path w="7273132" h="1972837">
                  <a:moveTo>
                    <a:pt x="0" y="0"/>
                  </a:moveTo>
                  <a:lnTo>
                    <a:pt x="7273132" y="0"/>
                  </a:lnTo>
                  <a:lnTo>
                    <a:pt x="7273132" y="1972837"/>
                  </a:lnTo>
                  <a:lnTo>
                    <a:pt x="0" y="1972837"/>
                  </a:lnTo>
                  <a:lnTo>
                    <a:pt x="0" y="0"/>
                  </a:lnTo>
                  <a:close/>
                </a:path>
              </a:pathLst>
            </a:custGeom>
            <a:blipFill>
              <a:blip r:embed="rId6"/>
              <a:stretch>
                <a:fillRect/>
              </a:stretch>
            </a:blipFill>
          </p:spPr>
          <p:txBody>
            <a:bodyPr/>
            <a:lstStyle/>
            <a:p>
              <a:endParaRPr lang="en-SG"/>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SG" dirty="0"/>
          </a:p>
        </p:txBody>
      </p:sp>
      <p:sp>
        <p:nvSpPr>
          <p:cNvPr id="3" name="TextBox 3"/>
          <p:cNvSpPr txBox="1"/>
          <p:nvPr/>
        </p:nvSpPr>
        <p:spPr>
          <a:xfrm>
            <a:off x="533400" y="2100619"/>
            <a:ext cx="17983200" cy="8425383"/>
          </a:xfrm>
          <a:prstGeom prst="rect">
            <a:avLst/>
          </a:prstGeom>
        </p:spPr>
        <p:txBody>
          <a:bodyPr wrap="square" lIns="0" tIns="0" rIns="0" bIns="0" rtlCol="0" anchor="t">
            <a:spAutoFit/>
          </a:bodyPr>
          <a:lstStyle/>
          <a:p>
            <a:pPr marL="457200" indent="-457200">
              <a:lnSpc>
                <a:spcPts val="7300"/>
              </a:lnSpc>
              <a:buFont typeface="Arial" panose="020B0604020202020204" pitchFamily="34" charset="0"/>
              <a:buChar char="•"/>
            </a:pPr>
            <a:r>
              <a:rPr lang="en-US" sz="3500"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The driver picks up the vaccines from the distribution center and confirms pickup through the mobile app, which is recorded on the blockchain.</a:t>
            </a:r>
          </a:p>
          <a:p>
            <a:pPr marL="457200" indent="-457200">
              <a:lnSpc>
                <a:spcPts val="7300"/>
              </a:lnSpc>
              <a:buFont typeface="Arial" panose="020B0604020202020204" pitchFamily="34" charset="0"/>
              <a:buChar char="•"/>
            </a:pPr>
            <a:r>
              <a:rPr lang="en-US" sz="3500"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The vehicle is tracked in real time, and alerts are sent if there are delays or route deviations.</a:t>
            </a:r>
          </a:p>
          <a:p>
            <a:pPr marL="457200" indent="-457200">
              <a:lnSpc>
                <a:spcPts val="7300"/>
              </a:lnSpc>
              <a:buFont typeface="Arial" panose="020B0604020202020204" pitchFamily="34" charset="0"/>
              <a:buChar char="•"/>
            </a:pPr>
            <a:r>
              <a:rPr lang="en-US" sz="3500"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At the hospital, medical staff verifies the delivery, and both driver and receiver confirm it digitally, creating a proof of delivery on the blockchain.</a:t>
            </a:r>
          </a:p>
          <a:p>
            <a:pPr marL="457200" indent="-457200">
              <a:lnSpc>
                <a:spcPts val="7300"/>
              </a:lnSpc>
              <a:buFont typeface="Arial" panose="020B0604020202020204" pitchFamily="34" charset="0"/>
              <a:buChar char="•"/>
            </a:pPr>
            <a:r>
              <a:rPr lang="en-US" sz="3500"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Finally, the smart contract automatically releases payment, and the system updates the reliability score of the participants.</a:t>
            </a:r>
          </a:p>
          <a:p>
            <a:pPr algn="ctr">
              <a:lnSpc>
                <a:spcPts val="7300"/>
              </a:lnSpc>
            </a:pPr>
            <a:endParaRPr lang="en-US" sz="7300" b="1"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endParaRPr>
          </a:p>
        </p:txBody>
      </p:sp>
      <p:grpSp>
        <p:nvGrpSpPr>
          <p:cNvPr id="4" name="Group 4"/>
          <p:cNvGrpSpPr/>
          <p:nvPr/>
        </p:nvGrpSpPr>
        <p:grpSpPr>
          <a:xfrm>
            <a:off x="632753" y="636360"/>
            <a:ext cx="17103324" cy="1479628"/>
            <a:chOff x="0" y="0"/>
            <a:chExt cx="22804433" cy="1972837"/>
          </a:xfrm>
        </p:grpSpPr>
        <p:grpSp>
          <p:nvGrpSpPr>
            <p:cNvPr id="5" name="Group 5"/>
            <p:cNvGrpSpPr/>
            <p:nvPr/>
          </p:nvGrpSpPr>
          <p:grpSpPr>
            <a:xfrm>
              <a:off x="14170825" y="0"/>
              <a:ext cx="8633608" cy="1747411"/>
              <a:chOff x="0" y="0"/>
              <a:chExt cx="979436" cy="198234"/>
            </a:xfrm>
          </p:grpSpPr>
          <p:sp>
            <p:nvSpPr>
              <p:cNvPr id="6" name="Freeform 6"/>
              <p:cNvSpPr/>
              <p:nvPr/>
            </p:nvSpPr>
            <p:spPr>
              <a:xfrm>
                <a:off x="0" y="0"/>
                <a:ext cx="979436" cy="198234"/>
              </a:xfrm>
              <a:custGeom>
                <a:avLst/>
                <a:gdLst/>
                <a:ahLst/>
                <a:cxnLst/>
                <a:rect l="l" t="t" r="r" b="b"/>
                <a:pathLst>
                  <a:path w="979436" h="198234">
                    <a:moveTo>
                      <a:pt x="88476" y="0"/>
                    </a:moveTo>
                    <a:lnTo>
                      <a:pt x="890959" y="0"/>
                    </a:lnTo>
                    <a:cubicBezTo>
                      <a:pt x="939824" y="0"/>
                      <a:pt x="979436" y="39612"/>
                      <a:pt x="979436" y="88476"/>
                    </a:cubicBezTo>
                    <a:lnTo>
                      <a:pt x="979436" y="109758"/>
                    </a:lnTo>
                    <a:cubicBezTo>
                      <a:pt x="979436" y="133223"/>
                      <a:pt x="970114" y="155728"/>
                      <a:pt x="953522" y="172320"/>
                    </a:cubicBezTo>
                    <a:cubicBezTo>
                      <a:pt x="936929" y="188913"/>
                      <a:pt x="914425" y="198234"/>
                      <a:pt x="890959" y="198234"/>
                    </a:cubicBezTo>
                    <a:lnTo>
                      <a:pt x="88476" y="198234"/>
                    </a:lnTo>
                    <a:cubicBezTo>
                      <a:pt x="39612" y="198234"/>
                      <a:pt x="0" y="158622"/>
                      <a:pt x="0" y="109758"/>
                    </a:cubicBezTo>
                    <a:lnTo>
                      <a:pt x="0" y="88476"/>
                    </a:lnTo>
                    <a:cubicBezTo>
                      <a:pt x="0" y="39612"/>
                      <a:pt x="39612" y="0"/>
                      <a:pt x="88476" y="0"/>
                    </a:cubicBezTo>
                    <a:close/>
                  </a:path>
                </a:pathLst>
              </a:custGeom>
              <a:gradFill rotWithShape="1">
                <a:gsLst>
                  <a:gs pos="0">
                    <a:srgbClr val="8C52FF">
                      <a:alpha val="34000"/>
                    </a:srgbClr>
                  </a:gs>
                  <a:gs pos="100000">
                    <a:srgbClr val="00BF63">
                      <a:alpha val="34000"/>
                    </a:srgbClr>
                  </a:gs>
                </a:gsLst>
                <a:lin ang="0"/>
              </a:gradFill>
            </p:spPr>
            <p:txBody>
              <a:bodyPr/>
              <a:lstStyle/>
              <a:p>
                <a:endParaRPr lang="en-SG"/>
              </a:p>
            </p:txBody>
          </p:sp>
          <p:sp>
            <p:nvSpPr>
              <p:cNvPr id="7" name="TextBox 7"/>
              <p:cNvSpPr txBox="1"/>
              <p:nvPr/>
            </p:nvSpPr>
            <p:spPr>
              <a:xfrm>
                <a:off x="0" y="-47625"/>
                <a:ext cx="979436" cy="245859"/>
              </a:xfrm>
              <a:prstGeom prst="rect">
                <a:avLst/>
              </a:prstGeom>
            </p:spPr>
            <p:txBody>
              <a:bodyPr lIns="56452" tIns="56452" rIns="56452" bIns="56452" rtlCol="0" anchor="ctr"/>
              <a:lstStyle/>
              <a:p>
                <a:pPr algn="ctr">
                  <a:lnSpc>
                    <a:spcPts val="3440"/>
                  </a:lnSpc>
                </a:pPr>
                <a:endParaRPr/>
              </a:p>
            </p:txBody>
          </p:sp>
        </p:grpSp>
        <p:sp>
          <p:nvSpPr>
            <p:cNvPr id="8" name="TextBox 8"/>
            <p:cNvSpPr txBox="1"/>
            <p:nvPr/>
          </p:nvSpPr>
          <p:spPr>
            <a:xfrm>
              <a:off x="18542125" y="1128773"/>
              <a:ext cx="1391797" cy="405510"/>
            </a:xfrm>
            <a:prstGeom prst="rect">
              <a:avLst/>
            </a:prstGeom>
          </p:spPr>
          <p:txBody>
            <a:bodyPr lIns="0" tIns="0" rIns="0" bIns="0" rtlCol="0" anchor="t">
              <a:spAutoFit/>
            </a:bodyPr>
            <a:lstStyle/>
            <a:p>
              <a:pPr algn="ctr">
                <a:lnSpc>
                  <a:spcPts val="2537"/>
                </a:lnSpc>
              </a:pPr>
              <a:r>
                <a:rPr lang="en-US" sz="1812" b="1">
                  <a:solidFill>
                    <a:srgbClr val="FFFFFF"/>
                  </a:solidFill>
                  <a:latin typeface="Playfair Display Bold"/>
                  <a:ea typeface="Playfair Display Bold"/>
                  <a:cs typeface="Playfair Display Bold"/>
                  <a:sym typeface="Playfair Display Bold"/>
                </a:rPr>
                <a:t>ECDS</a:t>
              </a:r>
            </a:p>
          </p:txBody>
        </p:sp>
        <p:sp>
          <p:nvSpPr>
            <p:cNvPr id="9" name="Freeform 9"/>
            <p:cNvSpPr/>
            <p:nvPr/>
          </p:nvSpPr>
          <p:spPr>
            <a:xfrm>
              <a:off x="18487629" y="213128"/>
              <a:ext cx="1446293" cy="953744"/>
            </a:xfrm>
            <a:custGeom>
              <a:avLst/>
              <a:gdLst/>
              <a:ahLst/>
              <a:cxnLst/>
              <a:rect l="l" t="t" r="r" b="b"/>
              <a:pathLst>
                <a:path w="1446293" h="953744">
                  <a:moveTo>
                    <a:pt x="0" y="0"/>
                  </a:moveTo>
                  <a:lnTo>
                    <a:pt x="1446293" y="0"/>
                  </a:lnTo>
                  <a:lnTo>
                    <a:pt x="1446293" y="953745"/>
                  </a:lnTo>
                  <a:lnTo>
                    <a:pt x="0" y="953745"/>
                  </a:lnTo>
                  <a:lnTo>
                    <a:pt x="0" y="0"/>
                  </a:lnTo>
                  <a:close/>
                </a:path>
              </a:pathLst>
            </a:custGeom>
            <a:blipFill>
              <a:blip r:embed="rId3"/>
              <a:stretch>
                <a:fillRect l="-12251" t="-36010" r="-12482" b="-53141"/>
              </a:stretch>
            </a:blipFill>
          </p:spPr>
          <p:txBody>
            <a:bodyPr/>
            <a:lstStyle/>
            <a:p>
              <a:endParaRPr lang="en-SG"/>
            </a:p>
          </p:txBody>
        </p:sp>
        <p:grpSp>
          <p:nvGrpSpPr>
            <p:cNvPr id="10" name="Group 10"/>
            <p:cNvGrpSpPr/>
            <p:nvPr/>
          </p:nvGrpSpPr>
          <p:grpSpPr>
            <a:xfrm>
              <a:off x="20167830" y="331442"/>
              <a:ext cx="1084526" cy="1084526"/>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en-SG"/>
              </a:p>
            </p:txBody>
          </p:sp>
        </p:grpSp>
        <p:sp>
          <p:nvSpPr>
            <p:cNvPr id="12" name="Freeform 12"/>
            <p:cNvSpPr/>
            <p:nvPr/>
          </p:nvSpPr>
          <p:spPr>
            <a:xfrm>
              <a:off x="15300917" y="286116"/>
              <a:ext cx="2952803" cy="1011539"/>
            </a:xfrm>
            <a:custGeom>
              <a:avLst/>
              <a:gdLst/>
              <a:ahLst/>
              <a:cxnLst/>
              <a:rect l="l" t="t" r="r" b="b"/>
              <a:pathLst>
                <a:path w="2952803" h="1011539">
                  <a:moveTo>
                    <a:pt x="0" y="0"/>
                  </a:moveTo>
                  <a:lnTo>
                    <a:pt x="2952803" y="0"/>
                  </a:lnTo>
                  <a:lnTo>
                    <a:pt x="2952803" y="1011539"/>
                  </a:lnTo>
                  <a:lnTo>
                    <a:pt x="0" y="1011539"/>
                  </a:lnTo>
                  <a:lnTo>
                    <a:pt x="0" y="0"/>
                  </a:lnTo>
                  <a:close/>
                </a:path>
              </a:pathLst>
            </a:custGeom>
            <a:blipFill>
              <a:blip r:embed="rId5"/>
              <a:stretch>
                <a:fillRect l="-95" t="-40049" r="-7054" b="-38629"/>
              </a:stretch>
            </a:blipFill>
          </p:spPr>
          <p:txBody>
            <a:bodyPr/>
            <a:lstStyle/>
            <a:p>
              <a:endParaRPr lang="en-SG"/>
            </a:p>
          </p:txBody>
        </p:sp>
        <p:sp>
          <p:nvSpPr>
            <p:cNvPr id="13" name="Freeform 13"/>
            <p:cNvSpPr/>
            <p:nvPr/>
          </p:nvSpPr>
          <p:spPr>
            <a:xfrm>
              <a:off x="0" y="0"/>
              <a:ext cx="7273132" cy="1972837"/>
            </a:xfrm>
            <a:custGeom>
              <a:avLst/>
              <a:gdLst/>
              <a:ahLst/>
              <a:cxnLst/>
              <a:rect l="l" t="t" r="r" b="b"/>
              <a:pathLst>
                <a:path w="7273132" h="1972837">
                  <a:moveTo>
                    <a:pt x="0" y="0"/>
                  </a:moveTo>
                  <a:lnTo>
                    <a:pt x="7273132" y="0"/>
                  </a:lnTo>
                  <a:lnTo>
                    <a:pt x="7273132" y="1972837"/>
                  </a:lnTo>
                  <a:lnTo>
                    <a:pt x="0" y="1972837"/>
                  </a:lnTo>
                  <a:lnTo>
                    <a:pt x="0" y="0"/>
                  </a:lnTo>
                  <a:close/>
                </a:path>
              </a:pathLst>
            </a:custGeom>
            <a:blipFill>
              <a:blip r:embed="rId6"/>
              <a:stretch>
                <a:fillRect/>
              </a:stretch>
            </a:blipFill>
          </p:spPr>
          <p:txBody>
            <a:bodyPr/>
            <a:lstStyle/>
            <a:p>
              <a:endParaRPr lang="en-SG"/>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SG"/>
          </a:p>
        </p:txBody>
      </p:sp>
      <p:sp>
        <p:nvSpPr>
          <p:cNvPr id="3" name="TextBox 3"/>
          <p:cNvSpPr txBox="1"/>
          <p:nvPr/>
        </p:nvSpPr>
        <p:spPr>
          <a:xfrm>
            <a:off x="990600" y="2024323"/>
            <a:ext cx="12652043" cy="813043"/>
          </a:xfrm>
          <a:prstGeom prst="rect">
            <a:avLst/>
          </a:prstGeom>
        </p:spPr>
        <p:txBody>
          <a:bodyPr lIns="0" tIns="0" rIns="0" bIns="0" rtlCol="0" anchor="t">
            <a:spAutoFit/>
          </a:bodyPr>
          <a:lstStyle/>
          <a:p>
            <a:pPr>
              <a:lnSpc>
                <a:spcPts val="7300"/>
              </a:lnSpc>
            </a:pPr>
            <a:r>
              <a:rPr lang="en-US" sz="3500" b="1" u="sng" dirty="0">
                <a:gradFill>
                  <a:gsLst>
                    <a:gs pos="0">
                      <a:srgbClr val="0D5B2E">
                        <a:alpha val="100000"/>
                      </a:srgbClr>
                    </a:gs>
                    <a:gs pos="100000">
                      <a:srgbClr val="BAFFF5">
                        <a:alpha val="100000"/>
                      </a:srgbClr>
                    </a:gs>
                  </a:gsLst>
                  <a:lin ang="5400000"/>
                </a:gradFill>
                <a:latin typeface="Montserrat Bold"/>
                <a:ea typeface="Montserrat Bold"/>
                <a:cs typeface="Montserrat Bold"/>
                <a:sym typeface="Montserrat Bold"/>
              </a:rPr>
              <a:t>WORKFLOW DIAGRAM:</a:t>
            </a:r>
          </a:p>
        </p:txBody>
      </p:sp>
      <p:grpSp>
        <p:nvGrpSpPr>
          <p:cNvPr id="4" name="Group 4"/>
          <p:cNvGrpSpPr/>
          <p:nvPr/>
        </p:nvGrpSpPr>
        <p:grpSpPr>
          <a:xfrm>
            <a:off x="632753" y="636360"/>
            <a:ext cx="17103324" cy="1479628"/>
            <a:chOff x="0" y="0"/>
            <a:chExt cx="22804433" cy="1972837"/>
          </a:xfrm>
        </p:grpSpPr>
        <p:grpSp>
          <p:nvGrpSpPr>
            <p:cNvPr id="5" name="Group 5"/>
            <p:cNvGrpSpPr/>
            <p:nvPr/>
          </p:nvGrpSpPr>
          <p:grpSpPr>
            <a:xfrm>
              <a:off x="14170825" y="0"/>
              <a:ext cx="8633608" cy="1747411"/>
              <a:chOff x="0" y="0"/>
              <a:chExt cx="979436" cy="198234"/>
            </a:xfrm>
          </p:grpSpPr>
          <p:sp>
            <p:nvSpPr>
              <p:cNvPr id="6" name="Freeform 6"/>
              <p:cNvSpPr/>
              <p:nvPr/>
            </p:nvSpPr>
            <p:spPr>
              <a:xfrm>
                <a:off x="0" y="0"/>
                <a:ext cx="979436" cy="198234"/>
              </a:xfrm>
              <a:custGeom>
                <a:avLst/>
                <a:gdLst/>
                <a:ahLst/>
                <a:cxnLst/>
                <a:rect l="l" t="t" r="r" b="b"/>
                <a:pathLst>
                  <a:path w="979436" h="198234">
                    <a:moveTo>
                      <a:pt x="88476" y="0"/>
                    </a:moveTo>
                    <a:lnTo>
                      <a:pt x="890959" y="0"/>
                    </a:lnTo>
                    <a:cubicBezTo>
                      <a:pt x="939824" y="0"/>
                      <a:pt x="979436" y="39612"/>
                      <a:pt x="979436" y="88476"/>
                    </a:cubicBezTo>
                    <a:lnTo>
                      <a:pt x="979436" y="109758"/>
                    </a:lnTo>
                    <a:cubicBezTo>
                      <a:pt x="979436" y="133223"/>
                      <a:pt x="970114" y="155728"/>
                      <a:pt x="953522" y="172320"/>
                    </a:cubicBezTo>
                    <a:cubicBezTo>
                      <a:pt x="936929" y="188913"/>
                      <a:pt x="914425" y="198234"/>
                      <a:pt x="890959" y="198234"/>
                    </a:cubicBezTo>
                    <a:lnTo>
                      <a:pt x="88476" y="198234"/>
                    </a:lnTo>
                    <a:cubicBezTo>
                      <a:pt x="39612" y="198234"/>
                      <a:pt x="0" y="158622"/>
                      <a:pt x="0" y="109758"/>
                    </a:cubicBezTo>
                    <a:lnTo>
                      <a:pt x="0" y="88476"/>
                    </a:lnTo>
                    <a:cubicBezTo>
                      <a:pt x="0" y="39612"/>
                      <a:pt x="39612" y="0"/>
                      <a:pt x="88476" y="0"/>
                    </a:cubicBezTo>
                    <a:close/>
                  </a:path>
                </a:pathLst>
              </a:custGeom>
              <a:gradFill rotWithShape="1">
                <a:gsLst>
                  <a:gs pos="0">
                    <a:srgbClr val="8C52FF">
                      <a:alpha val="34000"/>
                    </a:srgbClr>
                  </a:gs>
                  <a:gs pos="100000">
                    <a:srgbClr val="00BF63">
                      <a:alpha val="34000"/>
                    </a:srgbClr>
                  </a:gs>
                </a:gsLst>
                <a:lin ang="0"/>
              </a:gradFill>
            </p:spPr>
            <p:txBody>
              <a:bodyPr/>
              <a:lstStyle/>
              <a:p>
                <a:endParaRPr lang="en-SG"/>
              </a:p>
            </p:txBody>
          </p:sp>
          <p:sp>
            <p:nvSpPr>
              <p:cNvPr id="7" name="TextBox 7"/>
              <p:cNvSpPr txBox="1"/>
              <p:nvPr/>
            </p:nvSpPr>
            <p:spPr>
              <a:xfrm>
                <a:off x="0" y="-47625"/>
                <a:ext cx="979436" cy="245859"/>
              </a:xfrm>
              <a:prstGeom prst="rect">
                <a:avLst/>
              </a:prstGeom>
            </p:spPr>
            <p:txBody>
              <a:bodyPr lIns="56452" tIns="56452" rIns="56452" bIns="56452" rtlCol="0" anchor="ctr"/>
              <a:lstStyle/>
              <a:p>
                <a:pPr algn="ctr">
                  <a:lnSpc>
                    <a:spcPts val="3440"/>
                  </a:lnSpc>
                </a:pPr>
                <a:endParaRPr/>
              </a:p>
            </p:txBody>
          </p:sp>
        </p:grpSp>
        <p:sp>
          <p:nvSpPr>
            <p:cNvPr id="8" name="TextBox 8"/>
            <p:cNvSpPr txBox="1"/>
            <p:nvPr/>
          </p:nvSpPr>
          <p:spPr>
            <a:xfrm>
              <a:off x="18542125" y="1128773"/>
              <a:ext cx="1391797" cy="405510"/>
            </a:xfrm>
            <a:prstGeom prst="rect">
              <a:avLst/>
            </a:prstGeom>
          </p:spPr>
          <p:txBody>
            <a:bodyPr lIns="0" tIns="0" rIns="0" bIns="0" rtlCol="0" anchor="t">
              <a:spAutoFit/>
            </a:bodyPr>
            <a:lstStyle/>
            <a:p>
              <a:pPr algn="ctr">
                <a:lnSpc>
                  <a:spcPts val="2537"/>
                </a:lnSpc>
              </a:pPr>
              <a:r>
                <a:rPr lang="en-US" sz="1812" b="1">
                  <a:solidFill>
                    <a:srgbClr val="FFFFFF"/>
                  </a:solidFill>
                  <a:latin typeface="Playfair Display Bold"/>
                  <a:ea typeface="Playfair Display Bold"/>
                  <a:cs typeface="Playfair Display Bold"/>
                  <a:sym typeface="Playfair Display Bold"/>
                </a:rPr>
                <a:t>ECDS</a:t>
              </a:r>
            </a:p>
          </p:txBody>
        </p:sp>
        <p:sp>
          <p:nvSpPr>
            <p:cNvPr id="9" name="Freeform 9"/>
            <p:cNvSpPr/>
            <p:nvPr/>
          </p:nvSpPr>
          <p:spPr>
            <a:xfrm>
              <a:off x="18487629" y="213128"/>
              <a:ext cx="1446293" cy="953744"/>
            </a:xfrm>
            <a:custGeom>
              <a:avLst/>
              <a:gdLst/>
              <a:ahLst/>
              <a:cxnLst/>
              <a:rect l="l" t="t" r="r" b="b"/>
              <a:pathLst>
                <a:path w="1446293" h="953744">
                  <a:moveTo>
                    <a:pt x="0" y="0"/>
                  </a:moveTo>
                  <a:lnTo>
                    <a:pt x="1446293" y="0"/>
                  </a:lnTo>
                  <a:lnTo>
                    <a:pt x="1446293" y="953745"/>
                  </a:lnTo>
                  <a:lnTo>
                    <a:pt x="0" y="953745"/>
                  </a:lnTo>
                  <a:lnTo>
                    <a:pt x="0" y="0"/>
                  </a:lnTo>
                  <a:close/>
                </a:path>
              </a:pathLst>
            </a:custGeom>
            <a:blipFill>
              <a:blip r:embed="rId3"/>
              <a:stretch>
                <a:fillRect l="-12251" t="-36010" r="-12482" b="-53141"/>
              </a:stretch>
            </a:blipFill>
          </p:spPr>
          <p:txBody>
            <a:bodyPr/>
            <a:lstStyle/>
            <a:p>
              <a:endParaRPr lang="en-SG"/>
            </a:p>
          </p:txBody>
        </p:sp>
        <p:grpSp>
          <p:nvGrpSpPr>
            <p:cNvPr id="10" name="Group 10"/>
            <p:cNvGrpSpPr/>
            <p:nvPr/>
          </p:nvGrpSpPr>
          <p:grpSpPr>
            <a:xfrm>
              <a:off x="20167830" y="331442"/>
              <a:ext cx="1084526" cy="1084526"/>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en-SG"/>
              </a:p>
            </p:txBody>
          </p:sp>
        </p:grpSp>
        <p:sp>
          <p:nvSpPr>
            <p:cNvPr id="12" name="Freeform 12"/>
            <p:cNvSpPr/>
            <p:nvPr/>
          </p:nvSpPr>
          <p:spPr>
            <a:xfrm>
              <a:off x="15300917" y="286116"/>
              <a:ext cx="2952803" cy="1011539"/>
            </a:xfrm>
            <a:custGeom>
              <a:avLst/>
              <a:gdLst/>
              <a:ahLst/>
              <a:cxnLst/>
              <a:rect l="l" t="t" r="r" b="b"/>
              <a:pathLst>
                <a:path w="2952803" h="1011539">
                  <a:moveTo>
                    <a:pt x="0" y="0"/>
                  </a:moveTo>
                  <a:lnTo>
                    <a:pt x="2952803" y="0"/>
                  </a:lnTo>
                  <a:lnTo>
                    <a:pt x="2952803" y="1011539"/>
                  </a:lnTo>
                  <a:lnTo>
                    <a:pt x="0" y="1011539"/>
                  </a:lnTo>
                  <a:lnTo>
                    <a:pt x="0" y="0"/>
                  </a:lnTo>
                  <a:close/>
                </a:path>
              </a:pathLst>
            </a:custGeom>
            <a:blipFill>
              <a:blip r:embed="rId5"/>
              <a:stretch>
                <a:fillRect l="-95" t="-40049" r="-7054" b="-38629"/>
              </a:stretch>
            </a:blipFill>
          </p:spPr>
          <p:txBody>
            <a:bodyPr/>
            <a:lstStyle/>
            <a:p>
              <a:endParaRPr lang="en-SG"/>
            </a:p>
          </p:txBody>
        </p:sp>
        <p:sp>
          <p:nvSpPr>
            <p:cNvPr id="13" name="Freeform 13"/>
            <p:cNvSpPr/>
            <p:nvPr/>
          </p:nvSpPr>
          <p:spPr>
            <a:xfrm>
              <a:off x="0" y="0"/>
              <a:ext cx="7273132" cy="1972837"/>
            </a:xfrm>
            <a:custGeom>
              <a:avLst/>
              <a:gdLst/>
              <a:ahLst/>
              <a:cxnLst/>
              <a:rect l="l" t="t" r="r" b="b"/>
              <a:pathLst>
                <a:path w="7273132" h="1972837">
                  <a:moveTo>
                    <a:pt x="0" y="0"/>
                  </a:moveTo>
                  <a:lnTo>
                    <a:pt x="7273132" y="0"/>
                  </a:lnTo>
                  <a:lnTo>
                    <a:pt x="7273132" y="1972837"/>
                  </a:lnTo>
                  <a:lnTo>
                    <a:pt x="0" y="1972837"/>
                  </a:lnTo>
                  <a:lnTo>
                    <a:pt x="0" y="0"/>
                  </a:lnTo>
                  <a:close/>
                </a:path>
              </a:pathLst>
            </a:custGeom>
            <a:blipFill>
              <a:blip r:embed="rId6"/>
              <a:stretch>
                <a:fillRect/>
              </a:stretch>
            </a:blipFill>
          </p:spPr>
          <p:txBody>
            <a:bodyPr/>
            <a:lstStyle/>
            <a:p>
              <a:endParaRPr lang="en-SG"/>
            </a:p>
          </p:txBody>
        </p:sp>
      </p:grpSp>
      <p:pic>
        <p:nvPicPr>
          <p:cNvPr id="17" name="Picture 16">
            <a:extLst>
              <a:ext uri="{FF2B5EF4-FFF2-40B4-BE49-F238E27FC236}">
                <a16:creationId xmlns:a16="http://schemas.microsoft.com/office/drawing/2014/main" id="{18CEB2FE-91A0-64A4-00F2-903BB25E9F57}"/>
              </a:ext>
            </a:extLst>
          </p:cNvPr>
          <p:cNvPicPr>
            <a:picLocks noChangeAspect="1"/>
          </p:cNvPicPr>
          <p:nvPr/>
        </p:nvPicPr>
        <p:blipFill>
          <a:blip r:embed="rId7"/>
          <a:stretch>
            <a:fillRect/>
          </a:stretch>
        </p:blipFill>
        <p:spPr>
          <a:xfrm>
            <a:off x="1828800" y="2997564"/>
            <a:ext cx="14630400" cy="702273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SG"/>
          </a:p>
        </p:txBody>
      </p:sp>
      <p:sp>
        <p:nvSpPr>
          <p:cNvPr id="3" name="TextBox 3"/>
          <p:cNvSpPr txBox="1"/>
          <p:nvPr/>
        </p:nvSpPr>
        <p:spPr>
          <a:xfrm>
            <a:off x="1143000" y="3009900"/>
            <a:ext cx="12652043" cy="4557658"/>
          </a:xfrm>
          <a:prstGeom prst="rect">
            <a:avLst/>
          </a:prstGeom>
        </p:spPr>
        <p:txBody>
          <a:bodyPr lIns="0" tIns="0" rIns="0" bIns="0" rtlCol="0" anchor="t">
            <a:spAutoFit/>
          </a:bodyPr>
          <a:lstStyle/>
          <a:p>
            <a:pPr>
              <a:lnSpc>
                <a:spcPts val="7300"/>
              </a:lnSpc>
            </a:pPr>
            <a:r>
              <a:rPr lang="en-US" sz="3500" b="1" u="sng" dirty="0">
                <a:gradFill>
                  <a:gsLst>
                    <a:gs pos="0">
                      <a:srgbClr val="0D5B2E">
                        <a:alpha val="100000"/>
                      </a:srgbClr>
                    </a:gs>
                    <a:gs pos="100000">
                      <a:srgbClr val="B8F4EB">
                        <a:alpha val="100000"/>
                      </a:srgbClr>
                    </a:gs>
                  </a:gsLst>
                  <a:lin ang="5400000"/>
                </a:gradFill>
                <a:latin typeface="Montserrat Bold"/>
                <a:ea typeface="Montserrat Bold"/>
                <a:cs typeface="Montserrat Bold"/>
                <a:sym typeface="Montserrat Bold"/>
              </a:rPr>
              <a:t>TEAM MEMBERS:</a:t>
            </a:r>
          </a:p>
          <a:p>
            <a:pPr>
              <a:lnSpc>
                <a:spcPts val="7300"/>
              </a:lnSpc>
            </a:pPr>
            <a:r>
              <a:rPr lang="en-US" sz="3500" b="1" dirty="0">
                <a:gradFill>
                  <a:gsLst>
                    <a:gs pos="0">
                      <a:srgbClr val="0D5B2E">
                        <a:alpha val="100000"/>
                      </a:srgbClr>
                    </a:gs>
                    <a:gs pos="100000">
                      <a:srgbClr val="B8F4EB">
                        <a:alpha val="100000"/>
                      </a:srgbClr>
                    </a:gs>
                  </a:gsLst>
                  <a:lin ang="5400000"/>
                </a:gradFill>
                <a:latin typeface="Montserrat Bold"/>
                <a:ea typeface="Montserrat Bold"/>
                <a:cs typeface="Montserrat Bold"/>
                <a:sym typeface="Montserrat Bold"/>
              </a:rPr>
              <a:t>VENNAPUSA MALLIPUJITHA</a:t>
            </a:r>
          </a:p>
          <a:p>
            <a:pPr>
              <a:lnSpc>
                <a:spcPts val="7300"/>
              </a:lnSpc>
            </a:pPr>
            <a:r>
              <a:rPr lang="en-US" sz="3500" b="1" dirty="0">
                <a:gradFill>
                  <a:gsLst>
                    <a:gs pos="0">
                      <a:srgbClr val="0D5B2E">
                        <a:alpha val="100000"/>
                      </a:srgbClr>
                    </a:gs>
                    <a:gs pos="100000">
                      <a:srgbClr val="B8F4EB">
                        <a:alpha val="100000"/>
                      </a:srgbClr>
                    </a:gs>
                  </a:gsLst>
                  <a:lin ang="5400000"/>
                </a:gradFill>
                <a:latin typeface="Montserrat Bold"/>
                <a:ea typeface="Montserrat Bold"/>
                <a:cs typeface="Montserrat Bold"/>
                <a:sym typeface="Montserrat Bold"/>
              </a:rPr>
              <a:t>SEGINENI VENKAT AKHILESH</a:t>
            </a:r>
          </a:p>
          <a:p>
            <a:pPr>
              <a:lnSpc>
                <a:spcPts val="7300"/>
              </a:lnSpc>
            </a:pPr>
            <a:r>
              <a:rPr lang="en-US" sz="3500" b="1" dirty="0">
                <a:gradFill>
                  <a:gsLst>
                    <a:gs pos="0">
                      <a:srgbClr val="0D5B2E">
                        <a:alpha val="100000"/>
                      </a:srgbClr>
                    </a:gs>
                    <a:gs pos="100000">
                      <a:srgbClr val="B8F4EB">
                        <a:alpha val="100000"/>
                      </a:srgbClr>
                    </a:gs>
                  </a:gsLst>
                  <a:lin ang="5400000"/>
                </a:gradFill>
                <a:latin typeface="Montserrat Bold"/>
                <a:ea typeface="Montserrat Bold"/>
                <a:cs typeface="Montserrat Bold"/>
                <a:sym typeface="Montserrat Bold"/>
              </a:rPr>
              <a:t>KOTHA GNANA JAYADEEP</a:t>
            </a:r>
          </a:p>
          <a:p>
            <a:pPr>
              <a:lnSpc>
                <a:spcPts val="7300"/>
              </a:lnSpc>
            </a:pPr>
            <a:r>
              <a:rPr lang="en-US" sz="3500" b="1" dirty="0">
                <a:gradFill>
                  <a:gsLst>
                    <a:gs pos="0">
                      <a:srgbClr val="0D5B2E">
                        <a:alpha val="100000"/>
                      </a:srgbClr>
                    </a:gs>
                    <a:gs pos="100000">
                      <a:srgbClr val="B8F4EB">
                        <a:alpha val="100000"/>
                      </a:srgbClr>
                    </a:gs>
                  </a:gsLst>
                  <a:lin ang="5400000"/>
                </a:gradFill>
                <a:latin typeface="Montserrat Bold"/>
                <a:ea typeface="Montserrat Bold"/>
                <a:cs typeface="Montserrat Bold"/>
                <a:sym typeface="Montserrat Bold"/>
              </a:rPr>
              <a:t>GUDI VISHNU VARDHAN</a:t>
            </a:r>
          </a:p>
        </p:txBody>
      </p:sp>
      <p:grpSp>
        <p:nvGrpSpPr>
          <p:cNvPr id="4" name="Group 4"/>
          <p:cNvGrpSpPr/>
          <p:nvPr/>
        </p:nvGrpSpPr>
        <p:grpSpPr>
          <a:xfrm>
            <a:off x="632753" y="636360"/>
            <a:ext cx="17103324" cy="1479628"/>
            <a:chOff x="0" y="0"/>
            <a:chExt cx="22804433" cy="1972837"/>
          </a:xfrm>
        </p:grpSpPr>
        <p:grpSp>
          <p:nvGrpSpPr>
            <p:cNvPr id="5" name="Group 5"/>
            <p:cNvGrpSpPr/>
            <p:nvPr/>
          </p:nvGrpSpPr>
          <p:grpSpPr>
            <a:xfrm>
              <a:off x="14170825" y="0"/>
              <a:ext cx="8633608" cy="1747411"/>
              <a:chOff x="0" y="0"/>
              <a:chExt cx="979436" cy="198234"/>
            </a:xfrm>
          </p:grpSpPr>
          <p:sp>
            <p:nvSpPr>
              <p:cNvPr id="6" name="Freeform 6"/>
              <p:cNvSpPr/>
              <p:nvPr/>
            </p:nvSpPr>
            <p:spPr>
              <a:xfrm>
                <a:off x="0" y="0"/>
                <a:ext cx="979436" cy="198234"/>
              </a:xfrm>
              <a:custGeom>
                <a:avLst/>
                <a:gdLst/>
                <a:ahLst/>
                <a:cxnLst/>
                <a:rect l="l" t="t" r="r" b="b"/>
                <a:pathLst>
                  <a:path w="979436" h="198234">
                    <a:moveTo>
                      <a:pt x="88476" y="0"/>
                    </a:moveTo>
                    <a:lnTo>
                      <a:pt x="890959" y="0"/>
                    </a:lnTo>
                    <a:cubicBezTo>
                      <a:pt x="939824" y="0"/>
                      <a:pt x="979436" y="39612"/>
                      <a:pt x="979436" y="88476"/>
                    </a:cubicBezTo>
                    <a:lnTo>
                      <a:pt x="979436" y="109758"/>
                    </a:lnTo>
                    <a:cubicBezTo>
                      <a:pt x="979436" y="133223"/>
                      <a:pt x="970114" y="155728"/>
                      <a:pt x="953522" y="172320"/>
                    </a:cubicBezTo>
                    <a:cubicBezTo>
                      <a:pt x="936929" y="188913"/>
                      <a:pt x="914425" y="198234"/>
                      <a:pt x="890959" y="198234"/>
                    </a:cubicBezTo>
                    <a:lnTo>
                      <a:pt x="88476" y="198234"/>
                    </a:lnTo>
                    <a:cubicBezTo>
                      <a:pt x="39612" y="198234"/>
                      <a:pt x="0" y="158622"/>
                      <a:pt x="0" y="109758"/>
                    </a:cubicBezTo>
                    <a:lnTo>
                      <a:pt x="0" y="88476"/>
                    </a:lnTo>
                    <a:cubicBezTo>
                      <a:pt x="0" y="39612"/>
                      <a:pt x="39612" y="0"/>
                      <a:pt x="88476" y="0"/>
                    </a:cubicBezTo>
                    <a:close/>
                  </a:path>
                </a:pathLst>
              </a:custGeom>
              <a:gradFill rotWithShape="1">
                <a:gsLst>
                  <a:gs pos="0">
                    <a:srgbClr val="8C52FF">
                      <a:alpha val="34000"/>
                    </a:srgbClr>
                  </a:gs>
                  <a:gs pos="100000">
                    <a:srgbClr val="00BF63">
                      <a:alpha val="34000"/>
                    </a:srgbClr>
                  </a:gs>
                </a:gsLst>
                <a:lin ang="0"/>
              </a:gradFill>
            </p:spPr>
            <p:txBody>
              <a:bodyPr/>
              <a:lstStyle/>
              <a:p>
                <a:endParaRPr lang="en-SG"/>
              </a:p>
            </p:txBody>
          </p:sp>
          <p:sp>
            <p:nvSpPr>
              <p:cNvPr id="7" name="TextBox 7"/>
              <p:cNvSpPr txBox="1"/>
              <p:nvPr/>
            </p:nvSpPr>
            <p:spPr>
              <a:xfrm>
                <a:off x="0" y="-47625"/>
                <a:ext cx="979436" cy="245859"/>
              </a:xfrm>
              <a:prstGeom prst="rect">
                <a:avLst/>
              </a:prstGeom>
            </p:spPr>
            <p:txBody>
              <a:bodyPr lIns="56452" tIns="56452" rIns="56452" bIns="56452" rtlCol="0" anchor="ctr"/>
              <a:lstStyle/>
              <a:p>
                <a:pPr algn="ctr">
                  <a:lnSpc>
                    <a:spcPts val="3440"/>
                  </a:lnSpc>
                </a:pPr>
                <a:endParaRPr/>
              </a:p>
            </p:txBody>
          </p:sp>
        </p:grpSp>
        <p:sp>
          <p:nvSpPr>
            <p:cNvPr id="8" name="TextBox 8"/>
            <p:cNvSpPr txBox="1"/>
            <p:nvPr/>
          </p:nvSpPr>
          <p:spPr>
            <a:xfrm>
              <a:off x="18542125" y="1128773"/>
              <a:ext cx="1391797" cy="405510"/>
            </a:xfrm>
            <a:prstGeom prst="rect">
              <a:avLst/>
            </a:prstGeom>
          </p:spPr>
          <p:txBody>
            <a:bodyPr lIns="0" tIns="0" rIns="0" bIns="0" rtlCol="0" anchor="t">
              <a:spAutoFit/>
            </a:bodyPr>
            <a:lstStyle/>
            <a:p>
              <a:pPr algn="ctr">
                <a:lnSpc>
                  <a:spcPts val="2537"/>
                </a:lnSpc>
              </a:pPr>
              <a:r>
                <a:rPr lang="en-US" sz="1812" b="1">
                  <a:solidFill>
                    <a:srgbClr val="FFFFFF"/>
                  </a:solidFill>
                  <a:latin typeface="Playfair Display Bold"/>
                  <a:ea typeface="Playfair Display Bold"/>
                  <a:cs typeface="Playfair Display Bold"/>
                  <a:sym typeface="Playfair Display Bold"/>
                </a:rPr>
                <a:t>ECDS</a:t>
              </a:r>
            </a:p>
          </p:txBody>
        </p:sp>
        <p:sp>
          <p:nvSpPr>
            <p:cNvPr id="9" name="Freeform 9"/>
            <p:cNvSpPr/>
            <p:nvPr/>
          </p:nvSpPr>
          <p:spPr>
            <a:xfrm>
              <a:off x="18487629" y="213128"/>
              <a:ext cx="1446293" cy="953744"/>
            </a:xfrm>
            <a:custGeom>
              <a:avLst/>
              <a:gdLst/>
              <a:ahLst/>
              <a:cxnLst/>
              <a:rect l="l" t="t" r="r" b="b"/>
              <a:pathLst>
                <a:path w="1446293" h="953744">
                  <a:moveTo>
                    <a:pt x="0" y="0"/>
                  </a:moveTo>
                  <a:lnTo>
                    <a:pt x="1446293" y="0"/>
                  </a:lnTo>
                  <a:lnTo>
                    <a:pt x="1446293" y="953745"/>
                  </a:lnTo>
                  <a:lnTo>
                    <a:pt x="0" y="953745"/>
                  </a:lnTo>
                  <a:lnTo>
                    <a:pt x="0" y="0"/>
                  </a:lnTo>
                  <a:close/>
                </a:path>
              </a:pathLst>
            </a:custGeom>
            <a:blipFill>
              <a:blip r:embed="rId3"/>
              <a:stretch>
                <a:fillRect l="-12251" t="-36010" r="-12482" b="-53141"/>
              </a:stretch>
            </a:blipFill>
          </p:spPr>
          <p:txBody>
            <a:bodyPr/>
            <a:lstStyle/>
            <a:p>
              <a:endParaRPr lang="en-SG"/>
            </a:p>
          </p:txBody>
        </p:sp>
        <p:grpSp>
          <p:nvGrpSpPr>
            <p:cNvPr id="10" name="Group 10"/>
            <p:cNvGrpSpPr/>
            <p:nvPr/>
          </p:nvGrpSpPr>
          <p:grpSpPr>
            <a:xfrm>
              <a:off x="20167830" y="331442"/>
              <a:ext cx="1084526" cy="1084526"/>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en-SG"/>
              </a:p>
            </p:txBody>
          </p:sp>
        </p:grpSp>
        <p:sp>
          <p:nvSpPr>
            <p:cNvPr id="12" name="Freeform 12"/>
            <p:cNvSpPr/>
            <p:nvPr/>
          </p:nvSpPr>
          <p:spPr>
            <a:xfrm>
              <a:off x="15300917" y="286116"/>
              <a:ext cx="2952803" cy="1011539"/>
            </a:xfrm>
            <a:custGeom>
              <a:avLst/>
              <a:gdLst/>
              <a:ahLst/>
              <a:cxnLst/>
              <a:rect l="l" t="t" r="r" b="b"/>
              <a:pathLst>
                <a:path w="2952803" h="1011539">
                  <a:moveTo>
                    <a:pt x="0" y="0"/>
                  </a:moveTo>
                  <a:lnTo>
                    <a:pt x="2952803" y="0"/>
                  </a:lnTo>
                  <a:lnTo>
                    <a:pt x="2952803" y="1011539"/>
                  </a:lnTo>
                  <a:lnTo>
                    <a:pt x="0" y="1011539"/>
                  </a:lnTo>
                  <a:lnTo>
                    <a:pt x="0" y="0"/>
                  </a:lnTo>
                  <a:close/>
                </a:path>
              </a:pathLst>
            </a:custGeom>
            <a:blipFill>
              <a:blip r:embed="rId5"/>
              <a:stretch>
                <a:fillRect l="-95" t="-40049" r="-7054" b="-38629"/>
              </a:stretch>
            </a:blipFill>
          </p:spPr>
          <p:txBody>
            <a:bodyPr/>
            <a:lstStyle/>
            <a:p>
              <a:endParaRPr lang="en-SG"/>
            </a:p>
          </p:txBody>
        </p:sp>
        <p:sp>
          <p:nvSpPr>
            <p:cNvPr id="13" name="Freeform 13"/>
            <p:cNvSpPr/>
            <p:nvPr/>
          </p:nvSpPr>
          <p:spPr>
            <a:xfrm>
              <a:off x="0" y="0"/>
              <a:ext cx="7273132" cy="1972837"/>
            </a:xfrm>
            <a:custGeom>
              <a:avLst/>
              <a:gdLst/>
              <a:ahLst/>
              <a:cxnLst/>
              <a:rect l="l" t="t" r="r" b="b"/>
              <a:pathLst>
                <a:path w="7273132" h="1972837">
                  <a:moveTo>
                    <a:pt x="0" y="0"/>
                  </a:moveTo>
                  <a:lnTo>
                    <a:pt x="7273132" y="0"/>
                  </a:lnTo>
                  <a:lnTo>
                    <a:pt x="7273132" y="1972837"/>
                  </a:lnTo>
                  <a:lnTo>
                    <a:pt x="0" y="1972837"/>
                  </a:lnTo>
                  <a:lnTo>
                    <a:pt x="0" y="0"/>
                  </a:lnTo>
                  <a:close/>
                </a:path>
              </a:pathLst>
            </a:custGeom>
            <a:blipFill>
              <a:blip r:embed="rId6"/>
              <a:stretch>
                <a:fillRect/>
              </a:stretch>
            </a:blipFill>
          </p:spPr>
          <p:txBody>
            <a:bodyPr/>
            <a:lstStyle/>
            <a:p>
              <a:endParaRPr lang="en-SG"/>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d34c6c18-4ad7-4e7f-8c7d-cff3ba25f78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65B8DAE0642B942BB833EAABF75097C" ma:contentTypeVersion="9" ma:contentTypeDescription="Create a new document." ma:contentTypeScope="" ma:versionID="7eee752413ace48018808fe7e448a0ec">
  <xsd:schema xmlns:xsd="http://www.w3.org/2001/XMLSchema" xmlns:xs="http://www.w3.org/2001/XMLSchema" xmlns:p="http://schemas.microsoft.com/office/2006/metadata/properties" xmlns:ns3="d34c6c18-4ad7-4e7f-8c7d-cff3ba25f783" targetNamespace="http://schemas.microsoft.com/office/2006/metadata/properties" ma:root="true" ma:fieldsID="1a5e1a1fae4a9f5524bee5798ac7a775" ns3:_="">
    <xsd:import namespace="d34c6c18-4ad7-4e7f-8c7d-cff3ba25f783"/>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34c6c18-4ad7-4e7f-8c7d-cff3ba25f783"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B2B98B8-3D4F-4714-8DBA-0D8F614EE67F}">
  <ds:schemaRefs>
    <ds:schemaRef ds:uri="http://purl.org/dc/terms/"/>
    <ds:schemaRef ds:uri="http://purl.org/dc/elements/1.1/"/>
    <ds:schemaRef ds:uri="http://schemas.microsoft.com/office/2006/metadata/properties"/>
    <ds:schemaRef ds:uri="http://schemas.microsoft.com/office/infopath/2007/PartnerControls"/>
    <ds:schemaRef ds:uri="http://purl.org/dc/dcmitype/"/>
    <ds:schemaRef ds:uri="http://schemas.microsoft.com/office/2006/documentManagement/types"/>
    <ds:schemaRef ds:uri="http://schemas.openxmlformats.org/package/2006/metadata/core-properties"/>
    <ds:schemaRef ds:uri="d34c6c18-4ad7-4e7f-8c7d-cff3ba25f783"/>
    <ds:schemaRef ds:uri="http://www.w3.org/XML/1998/namespace"/>
  </ds:schemaRefs>
</ds:datastoreItem>
</file>

<file path=customXml/itemProps2.xml><?xml version="1.0" encoding="utf-8"?>
<ds:datastoreItem xmlns:ds="http://schemas.openxmlformats.org/officeDocument/2006/customXml" ds:itemID="{22031D1B-FF95-48F7-95A3-798E6FB22B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34c6c18-4ad7-4e7f-8c7d-cff3ba25f78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D3185E2-E753-47F3-9D69-7177EDDA11F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44</TotalTime>
  <Words>368</Words>
  <Application>Microsoft Office PowerPoint</Application>
  <PresentationFormat>Custom</PresentationFormat>
  <Paragraphs>40</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Playfair Display Bold</vt:lpstr>
      <vt:lpstr>Montserrat Bold</vt:lpstr>
      <vt:lpstr>Arial</vt:lpstr>
      <vt:lpstr>Calibri</vt:lpstr>
      <vt:lpstr>Arimo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GLITCHCON 2.0</dc:title>
  <cp:lastModifiedBy>mallipuji2@gmail.com</cp:lastModifiedBy>
  <cp:revision>4</cp:revision>
  <dcterms:created xsi:type="dcterms:W3CDTF">2006-08-16T00:00:00Z</dcterms:created>
  <dcterms:modified xsi:type="dcterms:W3CDTF">2026-03-09T08:26:36Z</dcterms:modified>
  <dc:identifier>DAG7o8SITjs</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0x010100265B8DAE0642B942BB833EAABF75097C</vt:lpwstr>
  </property>
</Properties>
</file>